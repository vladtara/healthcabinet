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/>
    <a:lvl1pPr marL="0" indent="0">
      <a:defRPr sz="1800" lang="en-US"/>
    </a:lvl1pPr>
    <a:lvl2pPr marL="0" indent="0">
      <a:defRPr sz="1600" lang="en-US"/>
    </a:lvl2pPr>
    <a:lvl3pPr marL="0" indent="0">
      <a:defRPr sz="1400" lang="en-US"/>
    </a:lvl3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ealthCabinet Master">
    <p:bg>
      <p:bgPr>
        <a:solidFill>
          <a:srgbClr val="E4E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000" b="1" lang="en-US"/>
      </a:lvl1pPr>
    </p:titleStyle>
    <p:bodyStyle>
      <a:lvl1pPr marL="0" indent="0">
        <a:defRPr sz="1800" lang="en-US"/>
      </a:lvl1pPr>
      <a:lvl2pPr marL="0" indent="0">
        <a:defRPr sz="1600" lang="en-US"/>
      </a:lvl2pPr>
      <a:lvl3pPr marL="0" indent="0">
        <a:defRPr sz="1400" lang="en-US"/>
      </a:lvl3pPr>
    </p:bodyStyle>
    <p:otherStyle>
      <a:lvl1pPr marL="0" indent="0">
        <a:defRPr sz="1400" lang="en-US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3" name="Top Accent Bar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4" name="Title Divider 4"/>
          <p:cNvSpPr/>
          <p:nvPr/>
        </p:nvSpPr>
        <p:spPr>
          <a:xfrm>
            <a:off x="640080" y="1463040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5" name="Brand 5"/>
          <p:cNvSpPr/>
          <p:nvPr/>
        </p:nvSpPr>
        <p:spPr>
          <a:xfrm>
            <a:off x="640080" y="20116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HealthCabinet</a:t>
            </a:r>
            <a:endParaRPr lang="en-US" sz="1200"/>
          </a:p>
        </p:txBody>
      </p:sp>
      <p:sp>
        <p:nvSpPr>
          <p:cNvPr id="6" name="Header Meta 6"/>
          <p:cNvSpPr/>
          <p:nvPr/>
        </p:nvSpPr>
        <p:spPr>
          <a:xfrm>
            <a:off x="9540240" y="2011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pPr algn="r"/>
            <a:r>
              <a:rPr lang="en-US" sz="1200">
                <a:solidFill>
                  <a:srgbClr val="5A6A80"/>
                </a:solidFill>
              </a:rPr>
              <a:t>Pitch mode</a:t>
            </a:r>
            <a:endParaRPr lang="en-US" sz="1200"/>
          </a:p>
          <a:p>
            <a:pPr algn="r"/>
            <a:r>
              <a:rPr lang="en-US" sz="2000" b="1">
                <a:solidFill>
                  <a:srgbClr val="8898A8"/>
                </a:solidFill>
              </a:rPr>
              <a:t>01</a:t>
            </a:r>
            <a:endParaRPr lang="en-US" sz="2000"/>
          </a:p>
        </p:txBody>
      </p:sp>
      <p:sp>
        <p:nvSpPr>
          <p:cNvPr id="7" name="Footer Divider 7"/>
          <p:cNvSpPr/>
          <p:nvPr/>
        </p:nvSpPr>
        <p:spPr>
          <a:xfrm>
            <a:off x="640080" y="6565392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8" name="Footer Brand 8"/>
          <p:cNvSpPr/>
          <p:nvPr/>
        </p:nvSpPr>
        <p:spPr>
          <a:xfrm>
            <a:off x="640080" y="660196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100">
                <a:solidFill>
                  <a:srgbClr val="8898A8"/>
                </a:solidFill>
              </a:rPr>
              <a:t>HealthCabinet / Pitch Deck</a:t>
            </a:r>
            <a:endParaRPr lang="en-US" sz="1100"/>
          </a:p>
        </p:txBody>
      </p:sp>
      <p:sp>
        <p:nvSpPr>
          <p:cNvPr id="9" name="Footer Section 9"/>
          <p:cNvSpPr/>
          <p:nvPr/>
        </p:nvSpPr>
        <p:spPr>
          <a:xfrm>
            <a:off x="3383280" y="6601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ctr"/>
            <a:r>
              <a:rPr lang="en-US" sz="1100">
                <a:solidFill>
                  <a:srgbClr val="5A6A80"/>
                </a:solidFill>
              </a:rPr>
              <a:t>Cover</a:t>
            </a:r>
            <a:endParaRPr lang="en-US" sz="1100"/>
          </a:p>
        </p:txBody>
      </p:sp>
      <p:sp>
        <p:nvSpPr>
          <p:cNvPr id="10" name="Footer Page 10"/>
          <p:cNvSpPr/>
          <p:nvPr/>
        </p:nvSpPr>
        <p:spPr>
          <a:xfrm>
            <a:off x="10454640" y="660196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r"/>
            <a:r>
              <a:rPr lang="en-US" sz="1100">
                <a:solidFill>
                  <a:srgbClr val="8898A8"/>
                </a:solidFill>
              </a:rPr>
              <a:t>1</a:t>
            </a:r>
            <a:endParaRPr lang="en-US" sz="1100"/>
          </a:p>
        </p:txBody>
      </p:sp>
      <p:sp>
        <p:nvSpPr>
          <p:cNvPr id="11" name="Title Block 11"/>
          <p:cNvSpPr/>
          <p:nvPr/>
        </p:nvSpPr>
        <p:spPr>
          <a:xfrm>
            <a:off x="640080" y="475488"/>
            <a:ext cx="10911840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HealthCabinet / Personal health intelligence</a:t>
            </a:r>
            <a:endParaRPr lang="en-US" sz="1200"/>
          </a:p>
          <a:p>
            <a:r>
              <a:rPr lang="en-US" sz="2800" b="1">
                <a:solidFill>
                  <a:srgbClr val="1A2030"/>
                </a:solidFill>
              </a:rPr>
              <a:t>Your health data, finally understood.</a:t>
            </a:r>
            <a:endParaRPr lang="en-US" sz="2800"/>
          </a:p>
          <a:p>
            <a:r>
              <a:rPr lang="en-US" sz="1500">
                <a:solidFill>
                  <a:srgbClr val="5A6A80"/>
                </a:solidFill>
              </a:rPr>
              <a:t>HealthCabinet turns scattered lab PDFs and photos into structured biomarker history, trend visibility, and plain-language AI interpretation.</a:t>
            </a:r>
            <a:endParaRPr lang="en-US" sz="1500"/>
          </a:p>
        </p:txBody>
      </p:sp>
      <p:sp>
        <p:nvSpPr>
          <p:cNvPr id="12" name="Metric Card 12"/>
          <p:cNvSpPr/>
          <p:nvPr/>
        </p:nvSpPr>
        <p:spPr>
          <a:xfrm>
            <a:off x="640080" y="1801368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3" name="Metric Accent 13"/>
          <p:cNvSpPr/>
          <p:nvPr/>
        </p:nvSpPr>
        <p:spPr>
          <a:xfrm>
            <a:off x="640080" y="1801368"/>
            <a:ext cx="2011680" cy="4572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4" name="Metric Text 14"/>
          <p:cNvSpPr/>
          <p:nvPr/>
        </p:nvSpPr>
        <p:spPr>
          <a:xfrm>
            <a:off x="713232" y="1892808"/>
            <a:ext cx="1865376" cy="886968"/>
          </a:xfrm>
          <a:prstGeom prst="rect">
            <a:avLst/>
          </a:prstGeom>
          <a:noFill/>
          <a:ln>
            <a:noFill/>
          </a:ln>
        </p:spPr>
        <p:txBody>
          <a:bodyPr wrap="square" anchor="ctr" lIns="22860" rIns="22860" tIns="22860" bIns="22860"/>
          <a:lstStyle/>
          <a:p>
            <a:pPr algn="ctr"/>
            <a:r>
              <a:rPr lang="en-US" sz="1100" b="1">
                <a:solidFill>
                  <a:srgbClr val="5A6A80"/>
                </a:solidFill>
              </a:rPr>
              <a:t>Input</a:t>
            </a:r>
            <a:endParaRPr lang="en-US" sz="1100"/>
          </a:p>
          <a:p>
            <a:pPr algn="ctr"/>
            <a:r>
              <a:rPr lang="en-US" sz="2200" b="1">
                <a:solidFill>
                  <a:srgbClr val="1A2030"/>
                </a:solidFill>
              </a:rPr>
              <a:t>PDFs + photos</a:t>
            </a:r>
            <a:endParaRPr lang="en-US" sz="2200"/>
          </a:p>
          <a:p>
            <a:pPr algn="ctr"/>
            <a:r>
              <a:rPr lang="en-US" sz="1200">
                <a:solidFill>
                  <a:srgbClr val="5A6A80"/>
                </a:solidFill>
              </a:rPr>
              <a:t>Messy real-world documents, not idealized feeds</a:t>
            </a:r>
            <a:endParaRPr lang="en-US" sz="1200"/>
          </a:p>
        </p:txBody>
      </p:sp>
      <p:sp>
        <p:nvSpPr>
          <p:cNvPr id="15" name="Metric Card 15"/>
          <p:cNvSpPr/>
          <p:nvPr/>
        </p:nvSpPr>
        <p:spPr>
          <a:xfrm>
            <a:off x="2743200" y="1801368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6" name="Metric Accent 16"/>
          <p:cNvSpPr/>
          <p:nvPr/>
        </p:nvSpPr>
        <p:spPr>
          <a:xfrm>
            <a:off x="2743200" y="1801368"/>
            <a:ext cx="2011680" cy="4572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7" name="Metric Text 17"/>
          <p:cNvSpPr/>
          <p:nvPr/>
        </p:nvSpPr>
        <p:spPr>
          <a:xfrm>
            <a:off x="2816352" y="1892808"/>
            <a:ext cx="1865376" cy="886968"/>
          </a:xfrm>
          <a:prstGeom prst="rect">
            <a:avLst/>
          </a:prstGeom>
          <a:noFill/>
          <a:ln>
            <a:noFill/>
          </a:ln>
        </p:spPr>
        <p:txBody>
          <a:bodyPr wrap="square" anchor="ctr" lIns="22860" rIns="22860" tIns="22860" bIns="22860"/>
          <a:lstStyle/>
          <a:p>
            <a:pPr algn="ctr"/>
            <a:r>
              <a:rPr lang="en-US" sz="1100" b="1">
                <a:solidFill>
                  <a:srgbClr val="5A6A80"/>
                </a:solidFill>
              </a:rPr>
              <a:t>Output</a:t>
            </a:r>
            <a:endParaRPr lang="en-US" sz="1100"/>
          </a:p>
          <a:p>
            <a:pPr algn="ctr"/>
            <a:r>
              <a:rPr lang="en-US" sz="2200" b="1">
                <a:solidFill>
                  <a:srgbClr val="1A2030"/>
                </a:solidFill>
              </a:rPr>
              <a:t>Trend memory</a:t>
            </a:r>
            <a:endParaRPr lang="en-US" sz="2200"/>
          </a:p>
          <a:p>
            <a:pPr algn="ctr"/>
            <a:r>
              <a:rPr lang="en-US" sz="1200">
                <a:solidFill>
                  <a:srgbClr val="5A6A80"/>
                </a:solidFill>
              </a:rPr>
              <a:t>Patient-owned health history instead of isolated files</a:t>
            </a:r>
            <a:endParaRPr lang="en-US" sz="1200"/>
          </a:p>
        </p:txBody>
      </p:sp>
      <p:sp>
        <p:nvSpPr>
          <p:cNvPr id="18" name="Metric Card 18"/>
          <p:cNvSpPr/>
          <p:nvPr/>
        </p:nvSpPr>
        <p:spPr>
          <a:xfrm>
            <a:off x="4846320" y="1801368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9" name="Metric Accent 19"/>
          <p:cNvSpPr/>
          <p:nvPr/>
        </p:nvSpPr>
        <p:spPr>
          <a:xfrm>
            <a:off x="4846320" y="1801368"/>
            <a:ext cx="2011680" cy="4572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0" name="Metric Text 20"/>
          <p:cNvSpPr/>
          <p:nvPr/>
        </p:nvSpPr>
        <p:spPr>
          <a:xfrm>
            <a:off x="4919472" y="1892808"/>
            <a:ext cx="1865376" cy="886968"/>
          </a:xfrm>
          <a:prstGeom prst="rect">
            <a:avLst/>
          </a:prstGeom>
          <a:noFill/>
          <a:ln>
            <a:noFill/>
          </a:ln>
        </p:spPr>
        <p:txBody>
          <a:bodyPr wrap="square" anchor="ctr" lIns="22860" rIns="22860" tIns="22860" bIns="22860"/>
          <a:lstStyle/>
          <a:p>
            <a:pPr algn="ctr"/>
            <a:r>
              <a:rPr lang="en-US" sz="1100" b="1">
                <a:solidFill>
                  <a:srgbClr val="5A6A80"/>
                </a:solidFill>
              </a:rPr>
              <a:t>Experience</a:t>
            </a:r>
            <a:endParaRPr lang="en-US" sz="1100"/>
          </a:p>
          <a:p>
            <a:pPr algn="ctr"/>
            <a:r>
              <a:rPr lang="en-US" sz="2200" b="1">
                <a:solidFill>
                  <a:srgbClr val="1A2030"/>
                </a:solidFill>
              </a:rPr>
              <a:t>Clinical UI</a:t>
            </a:r>
            <a:endParaRPr lang="en-US" sz="2200"/>
          </a:p>
          <a:p>
            <a:pPr algn="ctr"/>
            <a:r>
              <a:rPr lang="en-US" sz="1200">
                <a:solidFill>
                  <a:srgbClr val="5A6A80"/>
                </a:solidFill>
              </a:rPr>
              <a:t>Serious workstation language, not generic wellness chrome</a:t>
            </a:r>
            <a:endParaRPr lang="en-US" sz="1200"/>
          </a:p>
        </p:txBody>
      </p:sp>
      <p:sp>
        <p:nvSpPr>
          <p:cNvPr id="21" name="Panel 21"/>
          <p:cNvSpPr/>
          <p:nvPr/>
        </p:nvSpPr>
        <p:spPr>
          <a:xfrm>
            <a:off x="6995160" y="1801368"/>
            <a:ext cx="4556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2" name="Panel Accent 22"/>
          <p:cNvSpPr/>
          <p:nvPr/>
        </p:nvSpPr>
        <p:spPr>
          <a:xfrm>
            <a:off x="6995160" y="1801368"/>
            <a:ext cx="455676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3" name="Panel Body 23"/>
          <p:cNvSpPr/>
          <p:nvPr/>
        </p:nvSpPr>
        <p:spPr>
          <a:xfrm>
            <a:off x="7086600" y="1874520"/>
            <a:ext cx="4373880" cy="245973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What the product does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• Upload a lab document as a PDF or photo</a:t>
            </a:r>
            <a:endParaRPr lang="en-US" sz="1400"/>
          </a:p>
          <a:p>
            <a:r>
              <a:rPr lang="en-US" sz="1400">
                <a:solidFill>
                  <a:srgbClr val="5A6A80"/>
                </a:solidFill>
              </a:rPr>
              <a:t>• Extract and normalize biomarker values</a:t>
            </a:r>
            <a:endParaRPr lang="en-US" sz="1400"/>
          </a:p>
          <a:p>
            <a:r>
              <a:rPr lang="en-US" sz="1400">
                <a:solidFill>
                  <a:srgbClr val="5A6A80"/>
                </a:solidFill>
              </a:rPr>
              <a:t>• Build a readable timeline with ranges and trends</a:t>
            </a:r>
            <a:endParaRPr lang="en-US" sz="1400"/>
          </a:p>
          <a:p>
            <a:r>
              <a:rPr lang="en-US" sz="1400">
                <a:solidFill>
                  <a:srgbClr val="5A6A80"/>
                </a:solidFill>
              </a:rPr>
              <a:t>• Add plain-language AI interpretation with context</a:t>
            </a:r>
            <a:endParaRPr lang="en-US" sz="1400"/>
          </a:p>
        </p:txBody>
      </p:sp>
      <p:sp>
        <p:nvSpPr>
          <p:cNvPr id="24" name="Callout Box 24"/>
          <p:cNvSpPr/>
          <p:nvPr/>
        </p:nvSpPr>
        <p:spPr>
          <a:xfrm>
            <a:off x="640080" y="3035808"/>
            <a:ext cx="6080760" cy="137160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5" name="Callout Bar 25"/>
          <p:cNvSpPr/>
          <p:nvPr/>
        </p:nvSpPr>
        <p:spPr>
          <a:xfrm>
            <a:off x="640080" y="3035808"/>
            <a:ext cx="45720" cy="13716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6" name="Callout Text 26"/>
          <p:cNvSpPr/>
          <p:nvPr/>
        </p:nvSpPr>
        <p:spPr>
          <a:xfrm>
            <a:off x="731520" y="3108960"/>
            <a:ext cx="5897880" cy="12252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3366FF"/>
                </a:solidFill>
              </a:rPr>
              <a:t>Why this matters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Labs give people numbers. HealthCabinet gives them memory, interpretation, and continuity across time.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3" name="Top Accent Bar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4" name="Title Divider 4"/>
          <p:cNvSpPr/>
          <p:nvPr/>
        </p:nvSpPr>
        <p:spPr>
          <a:xfrm>
            <a:off x="640080" y="1463040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5" name="Brand 5"/>
          <p:cNvSpPr/>
          <p:nvPr/>
        </p:nvSpPr>
        <p:spPr>
          <a:xfrm>
            <a:off x="640080" y="20116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HealthCabinet</a:t>
            </a:r>
            <a:endParaRPr lang="en-US" sz="1200"/>
          </a:p>
        </p:txBody>
      </p:sp>
      <p:sp>
        <p:nvSpPr>
          <p:cNvPr id="6" name="Header Meta 6"/>
          <p:cNvSpPr/>
          <p:nvPr/>
        </p:nvSpPr>
        <p:spPr>
          <a:xfrm>
            <a:off x="9540240" y="2011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pPr algn="r"/>
            <a:r>
              <a:rPr lang="en-US" sz="1200">
                <a:solidFill>
                  <a:srgbClr val="5A6A80"/>
                </a:solidFill>
              </a:rPr>
              <a:t>Problem framing</a:t>
            </a:r>
            <a:endParaRPr lang="en-US" sz="1200"/>
          </a:p>
          <a:p>
            <a:pPr algn="r"/>
            <a:r>
              <a:rPr lang="en-US" sz="2000" b="1">
                <a:solidFill>
                  <a:srgbClr val="8898A8"/>
                </a:solidFill>
              </a:rPr>
              <a:t>02</a:t>
            </a:r>
            <a:endParaRPr lang="en-US" sz="2000"/>
          </a:p>
        </p:txBody>
      </p:sp>
      <p:sp>
        <p:nvSpPr>
          <p:cNvPr id="7" name="Footer Divider 7"/>
          <p:cNvSpPr/>
          <p:nvPr/>
        </p:nvSpPr>
        <p:spPr>
          <a:xfrm>
            <a:off x="640080" y="6565392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8" name="Footer Brand 8"/>
          <p:cNvSpPr/>
          <p:nvPr/>
        </p:nvSpPr>
        <p:spPr>
          <a:xfrm>
            <a:off x="640080" y="660196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100">
                <a:solidFill>
                  <a:srgbClr val="8898A8"/>
                </a:solidFill>
              </a:rPr>
              <a:t>HealthCabinet / Pitch Deck</a:t>
            </a:r>
            <a:endParaRPr lang="en-US" sz="1100"/>
          </a:p>
        </p:txBody>
      </p:sp>
      <p:sp>
        <p:nvSpPr>
          <p:cNvPr id="9" name="Footer Section 9"/>
          <p:cNvSpPr/>
          <p:nvPr/>
        </p:nvSpPr>
        <p:spPr>
          <a:xfrm>
            <a:off x="3383280" y="6601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ctr"/>
            <a:r>
              <a:rPr lang="en-US" sz="1100">
                <a:solidFill>
                  <a:srgbClr val="5A6A80"/>
                </a:solidFill>
              </a:rPr>
              <a:t>Problem</a:t>
            </a:r>
            <a:endParaRPr lang="en-US" sz="1100"/>
          </a:p>
        </p:txBody>
      </p:sp>
      <p:sp>
        <p:nvSpPr>
          <p:cNvPr id="10" name="Footer Page 10"/>
          <p:cNvSpPr/>
          <p:nvPr/>
        </p:nvSpPr>
        <p:spPr>
          <a:xfrm>
            <a:off x="10454640" y="660196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r"/>
            <a:r>
              <a:rPr lang="en-US" sz="1100">
                <a:solidFill>
                  <a:srgbClr val="8898A8"/>
                </a:solidFill>
              </a:rPr>
              <a:t>2</a:t>
            </a:r>
            <a:endParaRPr lang="en-US" sz="1100"/>
          </a:p>
        </p:txBody>
      </p:sp>
      <p:sp>
        <p:nvSpPr>
          <p:cNvPr id="11" name="Title Block 11"/>
          <p:cNvSpPr/>
          <p:nvPr/>
        </p:nvSpPr>
        <p:spPr>
          <a:xfrm>
            <a:off x="640080" y="475488"/>
            <a:ext cx="10911840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 data exists. Meaning does not.</a:t>
            </a:r>
            <a:endParaRPr lang="en-US" sz="1200"/>
          </a:p>
          <a:p>
            <a:r>
              <a:rPr lang="en-US" sz="2800" b="1">
                <a:solidFill>
                  <a:srgbClr val="1A2030"/>
                </a:solidFill>
              </a:rPr>
              <a:t>Patients own the files, but not the longitudinal understanding.</a:t>
            </a:r>
            <a:endParaRPr lang="en-US" sz="2800"/>
          </a:p>
          <a:p>
            <a:r>
              <a:rPr lang="en-US" sz="1500">
                <a:solidFill>
                  <a:srgbClr val="5A6A80"/>
                </a:solidFill>
              </a:rPr>
              <a:t>The strongest opportunity is not generating more health data. It is turning existing documents into a coherent patient-owned timeline.</a:t>
            </a:r>
            <a:endParaRPr lang="en-US" sz="1500"/>
          </a:p>
        </p:txBody>
      </p:sp>
      <p:sp>
        <p:nvSpPr>
          <p:cNvPr id="12" name="Panel 12"/>
          <p:cNvSpPr/>
          <p:nvPr/>
        </p:nvSpPr>
        <p:spPr>
          <a:xfrm>
            <a:off x="640080" y="1801368"/>
            <a:ext cx="45262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3" name="Panel Accent 13"/>
          <p:cNvSpPr/>
          <p:nvPr/>
        </p:nvSpPr>
        <p:spPr>
          <a:xfrm>
            <a:off x="640080" y="1801368"/>
            <a:ext cx="452628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4" name="Panel Body 14"/>
          <p:cNvSpPr/>
          <p:nvPr/>
        </p:nvSpPr>
        <p:spPr>
          <a:xfrm>
            <a:off x="731520" y="1874520"/>
            <a:ext cx="4343400" cy="27340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Current reality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• Results arrive as PDFs, scans, screenshots, and paper printouts.</a:t>
            </a:r>
            <a:endParaRPr lang="en-US" sz="1400"/>
          </a:p>
          <a:p>
            <a:r>
              <a:rPr lang="en-US" sz="1400">
                <a:solidFill>
                  <a:srgbClr val="5A6A80"/>
                </a:solidFill>
              </a:rPr>
              <a:t>• Each lab is interpreted as a snapshot, not a timeline.</a:t>
            </a:r>
            <a:endParaRPr lang="en-US" sz="1400"/>
          </a:p>
          <a:p>
            <a:r>
              <a:rPr lang="en-US" sz="1400">
                <a:solidFill>
                  <a:srgbClr val="5A6A80"/>
                </a:solidFill>
              </a:rPr>
              <a:t>• Users google abnormal values and still leave uncertain.</a:t>
            </a:r>
            <a:endParaRPr lang="en-US" sz="1400"/>
          </a:p>
          <a:p>
            <a:r>
              <a:rPr lang="en-US" sz="1400">
                <a:solidFill>
                  <a:srgbClr val="5A6A80"/>
                </a:solidFill>
              </a:rPr>
              <a:t>• Chronic-condition users repeat the same confusion every few months.</a:t>
            </a:r>
            <a:endParaRPr lang="en-US" sz="1400"/>
          </a:p>
        </p:txBody>
      </p:sp>
      <p:sp>
        <p:nvSpPr>
          <p:cNvPr id="15" name="Panel 15"/>
          <p:cNvSpPr/>
          <p:nvPr/>
        </p:nvSpPr>
        <p:spPr>
          <a:xfrm>
            <a:off x="5276088" y="1801368"/>
            <a:ext cx="627583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6" name="Panel Accent 16"/>
          <p:cNvSpPr/>
          <p:nvPr/>
        </p:nvSpPr>
        <p:spPr>
          <a:xfrm>
            <a:off x="5276088" y="1801368"/>
            <a:ext cx="6275832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7" name="Panel Body 17"/>
          <p:cNvSpPr/>
          <p:nvPr/>
        </p:nvSpPr>
        <p:spPr>
          <a:xfrm>
            <a:off x="5367528" y="1874520"/>
            <a:ext cx="6092952" cy="27340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What needs to replace it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• Patient-owned health memory</a:t>
            </a:r>
            <a:endParaRPr lang="en-US" sz="1400"/>
          </a:p>
          <a:p>
            <a:r>
              <a:rPr lang="en-US" sz="1400">
                <a:solidFill>
                  <a:srgbClr val="5A6A80"/>
                </a:solidFill>
              </a:rPr>
              <a:t>• Cross-upload pattern recognition</a:t>
            </a:r>
            <a:endParaRPr lang="en-US" sz="1400"/>
          </a:p>
          <a:p>
            <a:r>
              <a:rPr lang="en-US" sz="1400">
                <a:solidFill>
                  <a:srgbClr val="5A6A80"/>
                </a:solidFill>
              </a:rPr>
              <a:t>• Plain-language interpretation instead of raw flags alone</a:t>
            </a:r>
            <a:endParaRPr lang="en-US" sz="1400"/>
          </a:p>
          <a:p>
            <a:r>
              <a:rPr lang="en-US" sz="1400">
                <a:solidFill>
                  <a:srgbClr val="5A6A80"/>
                </a:solidFill>
              </a:rPr>
              <a:t>• One coherent timeline instead of portal-by-portal fragmentation</a:t>
            </a:r>
            <a:endParaRPr lang="en-US" sz="1400"/>
          </a:p>
        </p:txBody>
      </p:sp>
      <p:sp>
        <p:nvSpPr>
          <p:cNvPr id="18" name="Callout Box 18"/>
          <p:cNvSpPr/>
          <p:nvPr/>
        </p:nvSpPr>
        <p:spPr>
          <a:xfrm>
            <a:off x="640080" y="4818888"/>
            <a:ext cx="4526280" cy="91440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9" name="Callout Bar 19"/>
          <p:cNvSpPr/>
          <p:nvPr/>
        </p:nvSpPr>
        <p:spPr>
          <a:xfrm>
            <a:off x="640080" y="4818888"/>
            <a:ext cx="45720" cy="914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0" name="Callout Text 20"/>
          <p:cNvSpPr/>
          <p:nvPr/>
        </p:nvSpPr>
        <p:spPr>
          <a:xfrm>
            <a:off x="731520" y="4892040"/>
            <a:ext cx="43434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DAA520"/>
                </a:solidFill>
              </a:rPr>
              <a:t>User pain is repetitive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The best starting user is not a novelty uploader. It is the person who keeps testing and never gets a patient-owned longitudinal view.</a:t>
            </a:r>
            <a:endParaRPr lang="en-US" sz="1400"/>
          </a:p>
        </p:txBody>
      </p:sp>
      <p:sp>
        <p:nvSpPr>
          <p:cNvPr id="21" name="Callout Box 21"/>
          <p:cNvSpPr/>
          <p:nvPr/>
        </p:nvSpPr>
        <p:spPr>
          <a:xfrm>
            <a:off x="5303520" y="4818888"/>
            <a:ext cx="6248400" cy="91440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2" name="Callout Bar 22"/>
          <p:cNvSpPr/>
          <p:nvPr/>
        </p:nvSpPr>
        <p:spPr>
          <a:xfrm>
            <a:off x="5303520" y="4818888"/>
            <a:ext cx="45720" cy="9144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3" name="Callout Text 23"/>
          <p:cNvSpPr/>
          <p:nvPr/>
        </p:nvSpPr>
        <p:spPr>
          <a:xfrm>
            <a:off x="5394960" y="4892040"/>
            <a:ext cx="6065520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3366FF"/>
                </a:solidFill>
              </a:rPr>
              <a:t>The opportunity is continuity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HealthCabinet does not invent more health data. It transforms existing documents into compounding intelligence people can actually use.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3" name="Top Accent Bar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4" name="Title Divider 4"/>
          <p:cNvSpPr/>
          <p:nvPr/>
        </p:nvSpPr>
        <p:spPr>
          <a:xfrm>
            <a:off x="640080" y="1463040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5" name="Brand 5"/>
          <p:cNvSpPr/>
          <p:nvPr/>
        </p:nvSpPr>
        <p:spPr>
          <a:xfrm>
            <a:off x="640080" y="20116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HealthCabinet</a:t>
            </a:r>
            <a:endParaRPr lang="en-US" sz="1200"/>
          </a:p>
        </p:txBody>
      </p:sp>
      <p:sp>
        <p:nvSpPr>
          <p:cNvPr id="6" name="Header Meta 6"/>
          <p:cNvSpPr/>
          <p:nvPr/>
        </p:nvSpPr>
        <p:spPr>
          <a:xfrm>
            <a:off x="9540240" y="2011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pPr algn="r"/>
            <a:r>
              <a:rPr lang="en-US" sz="1200">
                <a:solidFill>
                  <a:srgbClr val="5A6A80"/>
                </a:solidFill>
              </a:rPr>
              <a:t>Target users</a:t>
            </a:r>
            <a:endParaRPr lang="en-US" sz="1200"/>
          </a:p>
          <a:p>
            <a:pPr algn="r"/>
            <a:r>
              <a:rPr lang="en-US" sz="2000" b="1">
                <a:solidFill>
                  <a:srgbClr val="8898A8"/>
                </a:solidFill>
              </a:rPr>
              <a:t>03</a:t>
            </a:r>
            <a:endParaRPr lang="en-US" sz="2000"/>
          </a:p>
        </p:txBody>
      </p:sp>
      <p:sp>
        <p:nvSpPr>
          <p:cNvPr id="7" name="Footer Divider 7"/>
          <p:cNvSpPr/>
          <p:nvPr/>
        </p:nvSpPr>
        <p:spPr>
          <a:xfrm>
            <a:off x="640080" y="6565392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8" name="Footer Brand 8"/>
          <p:cNvSpPr/>
          <p:nvPr/>
        </p:nvSpPr>
        <p:spPr>
          <a:xfrm>
            <a:off x="640080" y="660196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100">
                <a:solidFill>
                  <a:srgbClr val="8898A8"/>
                </a:solidFill>
              </a:rPr>
              <a:t>HealthCabinet / Pitch Deck</a:t>
            </a:r>
            <a:endParaRPr lang="en-US" sz="1100"/>
          </a:p>
        </p:txBody>
      </p:sp>
      <p:sp>
        <p:nvSpPr>
          <p:cNvPr id="9" name="Footer Section 9"/>
          <p:cNvSpPr/>
          <p:nvPr/>
        </p:nvSpPr>
        <p:spPr>
          <a:xfrm>
            <a:off x="3383280" y="6601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ctr"/>
            <a:r>
              <a:rPr lang="en-US" sz="1100">
                <a:solidFill>
                  <a:srgbClr val="5A6A80"/>
                </a:solidFill>
              </a:rPr>
              <a:t>Users</a:t>
            </a:r>
            <a:endParaRPr lang="en-US" sz="1100"/>
          </a:p>
        </p:txBody>
      </p:sp>
      <p:sp>
        <p:nvSpPr>
          <p:cNvPr id="10" name="Footer Page 10"/>
          <p:cNvSpPr/>
          <p:nvPr/>
        </p:nvSpPr>
        <p:spPr>
          <a:xfrm>
            <a:off x="10454640" y="660196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r"/>
            <a:r>
              <a:rPr lang="en-US" sz="1100">
                <a:solidFill>
                  <a:srgbClr val="8898A8"/>
                </a:solidFill>
              </a:rPr>
              <a:t>3</a:t>
            </a:r>
            <a:endParaRPr lang="en-US" sz="1100"/>
          </a:p>
        </p:txBody>
      </p:sp>
      <p:sp>
        <p:nvSpPr>
          <p:cNvPr id="11" name="Title Block 11"/>
          <p:cNvSpPr/>
          <p:nvPr/>
        </p:nvSpPr>
        <p:spPr>
          <a:xfrm>
            <a:off x="640080" y="475488"/>
            <a:ext cx="10911840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Start where the history compounds</a:t>
            </a:r>
            <a:endParaRPr lang="en-US" sz="1200"/>
          </a:p>
          <a:p>
            <a:r>
              <a:rPr lang="en-US" sz="2800" b="1">
                <a:solidFill>
                  <a:srgbClr val="1A2030"/>
                </a:solidFill>
              </a:rPr>
              <a:t>Repeated testers are the highest-value starting segment.</a:t>
            </a:r>
            <a:endParaRPr lang="en-US" sz="2800"/>
          </a:p>
          <a:p>
            <a:r>
              <a:rPr lang="en-US" sz="1500">
                <a:solidFill>
                  <a:srgbClr val="5A6A80"/>
                </a:solidFill>
              </a:rPr>
              <a:t>The product gets stronger when the user returns with another document. That makes the early user wedge unusually clear.</a:t>
            </a:r>
            <a:endParaRPr lang="en-US" sz="1500"/>
          </a:p>
        </p:txBody>
      </p:sp>
      <p:sp>
        <p:nvSpPr>
          <p:cNvPr id="12" name="Panel 12"/>
          <p:cNvSpPr/>
          <p:nvPr/>
        </p:nvSpPr>
        <p:spPr>
          <a:xfrm>
            <a:off x="640080" y="1801368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3" name="Panel Accent 13"/>
          <p:cNvSpPr/>
          <p:nvPr/>
        </p:nvSpPr>
        <p:spPr>
          <a:xfrm>
            <a:off x="640080" y="1801368"/>
            <a:ext cx="320040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4" name="Panel Body 14"/>
          <p:cNvSpPr/>
          <p:nvPr/>
        </p:nvSpPr>
        <p:spPr>
          <a:xfrm>
            <a:off x="731520" y="1874520"/>
            <a:ext cx="3017520" cy="21396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Sofia</a:t>
            </a:r>
            <a:endParaRPr lang="en-US" sz="1500"/>
          </a:p>
          <a:p>
            <a:r>
              <a:rPr lang="en-US" sz="1200" b="1">
                <a:solidFill>
                  <a:srgbClr val="3366FF"/>
                </a:solidFill>
              </a:rPr>
              <a:t>Primary persona</a:t>
            </a:r>
            <a:endParaRPr lang="en-US" sz="1200"/>
          </a:p>
          <a:p>
            <a:r>
              <a:rPr lang="en-US" sz="1300">
                <a:solidFill>
                  <a:srgbClr val="5A6A80"/>
                </a:solidFill>
              </a:rPr>
              <a:t>Hashimoto's patient testing every quarter. She needs trend intelligence she can carry into appointments, not another file archive.</a:t>
            </a:r>
            <a:endParaRPr lang="en-US" sz="1300"/>
          </a:p>
        </p:txBody>
      </p:sp>
      <p:sp>
        <p:nvSpPr>
          <p:cNvPr id="15" name="Panel 15"/>
          <p:cNvSpPr/>
          <p:nvPr/>
        </p:nvSpPr>
        <p:spPr>
          <a:xfrm>
            <a:off x="3950208" y="1801368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6" name="Panel Accent 16"/>
          <p:cNvSpPr/>
          <p:nvPr/>
        </p:nvSpPr>
        <p:spPr>
          <a:xfrm>
            <a:off x="3950208" y="1801368"/>
            <a:ext cx="320040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7" name="Panel Body 17"/>
          <p:cNvSpPr/>
          <p:nvPr/>
        </p:nvSpPr>
        <p:spPr>
          <a:xfrm>
            <a:off x="4041648" y="1874520"/>
            <a:ext cx="3017520" cy="21396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Maks</a:t>
            </a:r>
            <a:endParaRPr lang="en-US" sz="1500"/>
          </a:p>
          <a:p>
            <a:r>
              <a:rPr lang="en-US" sz="1200" b="1">
                <a:solidFill>
                  <a:srgbClr val="1A2030"/>
                </a:solidFill>
              </a:rPr>
              <a:t>Secondary persona</a:t>
            </a:r>
            <a:endParaRPr lang="en-US" sz="1200"/>
          </a:p>
          <a:p>
            <a:r>
              <a:rPr lang="en-US" sz="1300">
                <a:solidFill>
                  <a:srgbClr val="5A6A80"/>
                </a:solidFill>
              </a:rPr>
              <a:t>Private self-tester who wants plain-language explanation without panic or guesswork.</a:t>
            </a:r>
            <a:endParaRPr lang="en-US" sz="1300"/>
          </a:p>
        </p:txBody>
      </p:sp>
      <p:sp>
        <p:nvSpPr>
          <p:cNvPr id="18" name="Panel 18"/>
          <p:cNvSpPr/>
          <p:nvPr/>
        </p:nvSpPr>
        <p:spPr>
          <a:xfrm>
            <a:off x="7260336" y="1801368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9" name="Panel Accent 19"/>
          <p:cNvSpPr/>
          <p:nvPr/>
        </p:nvSpPr>
        <p:spPr>
          <a:xfrm>
            <a:off x="7260336" y="1801368"/>
            <a:ext cx="320040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0" name="Panel Body 20"/>
          <p:cNvSpPr/>
          <p:nvPr/>
        </p:nvSpPr>
        <p:spPr>
          <a:xfrm>
            <a:off x="7351776" y="1874520"/>
            <a:ext cx="3017520" cy="21396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Founder/Admin</a:t>
            </a:r>
            <a:endParaRPr lang="en-US" sz="1500"/>
          </a:p>
          <a:p>
            <a:r>
              <a:rPr lang="en-US" sz="1200" b="1">
                <a:solidFill>
                  <a:srgbClr val="DAA520"/>
                </a:solidFill>
              </a:rPr>
              <a:t>Operational persona</a:t>
            </a:r>
            <a:endParaRPr lang="en-US" sz="1200"/>
          </a:p>
          <a:p>
            <a:r>
              <a:rPr lang="en-US" sz="1300">
                <a:solidFill>
                  <a:srgbClr val="5A6A80"/>
                </a:solidFill>
              </a:rPr>
              <a:t>Needs visibility into upload failures, extraction quality, and correction workflows without heavy ops overhead.</a:t>
            </a:r>
            <a:endParaRPr lang="en-US" sz="1300"/>
          </a:p>
        </p:txBody>
      </p:sp>
      <p:sp>
        <p:nvSpPr>
          <p:cNvPr id="21" name="Callout Box 21"/>
          <p:cNvSpPr/>
          <p:nvPr/>
        </p:nvSpPr>
        <p:spPr>
          <a:xfrm>
            <a:off x="640080" y="4251960"/>
            <a:ext cx="4892040" cy="100584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2" name="Callout Bar 22"/>
          <p:cNvSpPr/>
          <p:nvPr/>
        </p:nvSpPr>
        <p:spPr>
          <a:xfrm>
            <a:off x="640080" y="4251960"/>
            <a:ext cx="45720" cy="10058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3" name="Callout Text 23"/>
          <p:cNvSpPr/>
          <p:nvPr/>
        </p:nvSpPr>
        <p:spPr>
          <a:xfrm>
            <a:off x="731520" y="4325112"/>
            <a:ext cx="4709160" cy="85953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2E8B57"/>
                </a:solidFill>
              </a:rPr>
              <a:t>Why repeated testers matter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They create exactly the type of longitudinal history that makes the product differentiated. Every upload deepens the moat.</a:t>
            </a:r>
            <a:endParaRPr lang="en-US" sz="1400"/>
          </a:p>
        </p:txBody>
      </p:sp>
      <p:sp>
        <p:nvSpPr>
          <p:cNvPr id="24" name="Callout Box 24"/>
          <p:cNvSpPr/>
          <p:nvPr/>
        </p:nvSpPr>
        <p:spPr>
          <a:xfrm>
            <a:off x="5641848" y="4251960"/>
            <a:ext cx="5910072" cy="100584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5" name="Callout Bar 25"/>
          <p:cNvSpPr/>
          <p:nvPr/>
        </p:nvSpPr>
        <p:spPr>
          <a:xfrm>
            <a:off x="5641848" y="4251960"/>
            <a:ext cx="45720" cy="100584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6" name="Callout Text 26"/>
          <p:cNvSpPr/>
          <p:nvPr/>
        </p:nvSpPr>
        <p:spPr>
          <a:xfrm>
            <a:off x="5733288" y="4325112"/>
            <a:ext cx="5727192" cy="85953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3366FF"/>
                </a:solidFill>
              </a:rPr>
              <a:t>Why the wedge is practical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This is a clear B2C starting point with understandable repeat behavior and visible value after every new document.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3" name="Top Accent Bar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4" name="Title Divider 4"/>
          <p:cNvSpPr/>
          <p:nvPr/>
        </p:nvSpPr>
        <p:spPr>
          <a:xfrm>
            <a:off x="640080" y="1463040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5" name="Brand 5"/>
          <p:cNvSpPr/>
          <p:nvPr/>
        </p:nvSpPr>
        <p:spPr>
          <a:xfrm>
            <a:off x="640080" y="20116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HealthCabinet</a:t>
            </a:r>
            <a:endParaRPr lang="en-US" sz="1200"/>
          </a:p>
        </p:txBody>
      </p:sp>
      <p:sp>
        <p:nvSpPr>
          <p:cNvPr id="6" name="Header Meta 6"/>
          <p:cNvSpPr/>
          <p:nvPr/>
        </p:nvSpPr>
        <p:spPr>
          <a:xfrm>
            <a:off x="9540240" y="2011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pPr algn="r"/>
            <a:r>
              <a:rPr lang="en-US" sz="1200">
                <a:solidFill>
                  <a:srgbClr val="5A6A80"/>
                </a:solidFill>
              </a:rPr>
              <a:t>Product flow</a:t>
            </a:r>
            <a:endParaRPr lang="en-US" sz="1200"/>
          </a:p>
          <a:p>
            <a:pPr algn="r"/>
            <a:r>
              <a:rPr lang="en-US" sz="2000" b="1">
                <a:solidFill>
                  <a:srgbClr val="8898A8"/>
                </a:solidFill>
              </a:rPr>
              <a:t>04</a:t>
            </a:r>
            <a:endParaRPr lang="en-US" sz="2000"/>
          </a:p>
        </p:txBody>
      </p:sp>
      <p:sp>
        <p:nvSpPr>
          <p:cNvPr id="7" name="Footer Divider 7"/>
          <p:cNvSpPr/>
          <p:nvPr/>
        </p:nvSpPr>
        <p:spPr>
          <a:xfrm>
            <a:off x="640080" y="6565392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8" name="Footer Brand 8"/>
          <p:cNvSpPr/>
          <p:nvPr/>
        </p:nvSpPr>
        <p:spPr>
          <a:xfrm>
            <a:off x="640080" y="660196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100">
                <a:solidFill>
                  <a:srgbClr val="8898A8"/>
                </a:solidFill>
              </a:rPr>
              <a:t>HealthCabinet / Pitch Deck</a:t>
            </a:r>
            <a:endParaRPr lang="en-US" sz="1100"/>
          </a:p>
        </p:txBody>
      </p:sp>
      <p:sp>
        <p:nvSpPr>
          <p:cNvPr id="9" name="Footer Section 9"/>
          <p:cNvSpPr/>
          <p:nvPr/>
        </p:nvSpPr>
        <p:spPr>
          <a:xfrm>
            <a:off x="3383280" y="6601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ctr"/>
            <a:r>
              <a:rPr lang="en-US" sz="1100">
                <a:solidFill>
                  <a:srgbClr val="5A6A80"/>
                </a:solidFill>
              </a:rPr>
              <a:t>Product</a:t>
            </a:r>
            <a:endParaRPr lang="en-US" sz="1100"/>
          </a:p>
        </p:txBody>
      </p:sp>
      <p:sp>
        <p:nvSpPr>
          <p:cNvPr id="10" name="Footer Page 10"/>
          <p:cNvSpPr/>
          <p:nvPr/>
        </p:nvSpPr>
        <p:spPr>
          <a:xfrm>
            <a:off x="10454640" y="660196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r"/>
            <a:r>
              <a:rPr lang="en-US" sz="1100">
                <a:solidFill>
                  <a:srgbClr val="8898A8"/>
                </a:solidFill>
              </a:rPr>
              <a:t>4</a:t>
            </a:r>
            <a:endParaRPr lang="en-US" sz="1100"/>
          </a:p>
        </p:txBody>
      </p:sp>
      <p:sp>
        <p:nvSpPr>
          <p:cNvPr id="11" name="Title Block 11"/>
          <p:cNvSpPr/>
          <p:nvPr/>
        </p:nvSpPr>
        <p:spPr>
          <a:xfrm>
            <a:off x="640080" y="475488"/>
            <a:ext cx="10911840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Upload once. Understand immediately. Learn over time.</a:t>
            </a:r>
            <a:endParaRPr lang="en-US" sz="1200"/>
          </a:p>
          <a:p>
            <a:r>
              <a:rPr lang="en-US" sz="2800" b="1">
                <a:solidFill>
                  <a:srgbClr val="1A2030"/>
                </a:solidFill>
              </a:rPr>
              <a:t>The product translates documents into a timeline users can actually read.</a:t>
            </a:r>
            <a:endParaRPr lang="en-US" sz="2800"/>
          </a:p>
          <a:p>
            <a:r>
              <a:rPr lang="en-US" sz="1500">
                <a:solidFill>
                  <a:srgbClr val="5A6A80"/>
                </a:solidFill>
              </a:rPr>
              <a:t>The experience is deliberately table-first and clinically legible, rather than card-heavy or decorative.</a:t>
            </a:r>
            <a:endParaRPr lang="en-US" sz="1500"/>
          </a:p>
        </p:txBody>
      </p:sp>
      <p:sp>
        <p:nvSpPr>
          <p:cNvPr id="12" name="Step Card 12"/>
          <p:cNvSpPr/>
          <p:nvPr/>
        </p:nvSpPr>
        <p:spPr>
          <a:xfrm>
            <a:off x="640080" y="1773936"/>
            <a:ext cx="2395728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A0B0C0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3" name="Step Number 13"/>
          <p:cNvSpPr/>
          <p:nvPr/>
        </p:nvSpPr>
        <p:spPr>
          <a:xfrm>
            <a:off x="713232" y="1847088"/>
            <a:ext cx="219456" cy="21945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ctr" lIns="22860" rIns="22860" tIns="22860" bIns="2286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1</a:t>
            </a:r>
            <a:endParaRPr lang="en-US" sz="1200"/>
          </a:p>
        </p:txBody>
      </p:sp>
      <p:sp>
        <p:nvSpPr>
          <p:cNvPr id="14" name="Step Copy 14"/>
          <p:cNvSpPr/>
          <p:nvPr/>
        </p:nvSpPr>
        <p:spPr>
          <a:xfrm>
            <a:off x="1005840" y="1847088"/>
            <a:ext cx="1956816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400" b="1">
                <a:solidFill>
                  <a:srgbClr val="1A2030"/>
                </a:solidFill>
              </a:rPr>
              <a:t>Import document</a:t>
            </a:r>
            <a:endParaRPr lang="en-US" sz="1400"/>
          </a:p>
          <a:p>
            <a:r>
              <a:rPr lang="en-US" sz="1200">
                <a:solidFill>
                  <a:srgbClr val="5A6A80"/>
                </a:solidFill>
              </a:rPr>
              <a:t>User uploads a PDF or photo from any lab.</a:t>
            </a:r>
            <a:endParaRPr lang="en-US" sz="1200"/>
          </a:p>
        </p:txBody>
      </p:sp>
      <p:sp>
        <p:nvSpPr>
          <p:cNvPr id="15" name="Step Card 15"/>
          <p:cNvSpPr/>
          <p:nvPr/>
        </p:nvSpPr>
        <p:spPr>
          <a:xfrm>
            <a:off x="3127248" y="1773936"/>
            <a:ext cx="2395728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A0B0C0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6" name="Step Number 16"/>
          <p:cNvSpPr/>
          <p:nvPr/>
        </p:nvSpPr>
        <p:spPr>
          <a:xfrm>
            <a:off x="3200400" y="1847088"/>
            <a:ext cx="219456" cy="21945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ctr" lIns="22860" rIns="22860" tIns="22860" bIns="2286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2</a:t>
            </a:r>
            <a:endParaRPr lang="en-US" sz="1200"/>
          </a:p>
        </p:txBody>
      </p:sp>
      <p:sp>
        <p:nvSpPr>
          <p:cNvPr id="17" name="Step Copy 17"/>
          <p:cNvSpPr/>
          <p:nvPr/>
        </p:nvSpPr>
        <p:spPr>
          <a:xfrm>
            <a:off x="3493008" y="1847088"/>
            <a:ext cx="1956816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400" b="1">
                <a:solidFill>
                  <a:srgbClr val="1A2030"/>
                </a:solidFill>
              </a:rPr>
              <a:t>Extract values</a:t>
            </a:r>
            <a:endParaRPr lang="en-US" sz="1400"/>
          </a:p>
          <a:p>
            <a:r>
              <a:rPr lang="en-US" sz="1200">
                <a:solidFill>
                  <a:srgbClr val="5A6A80"/>
                </a:solidFill>
              </a:rPr>
              <a:t>Pipeline reads, normalizes, and scores confidence.</a:t>
            </a:r>
            <a:endParaRPr lang="en-US" sz="1200"/>
          </a:p>
        </p:txBody>
      </p:sp>
      <p:sp>
        <p:nvSpPr>
          <p:cNvPr id="18" name="Step Card 18"/>
          <p:cNvSpPr/>
          <p:nvPr/>
        </p:nvSpPr>
        <p:spPr>
          <a:xfrm>
            <a:off x="5614416" y="1773936"/>
            <a:ext cx="2395728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A0B0C0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9" name="Step Number 19"/>
          <p:cNvSpPr/>
          <p:nvPr/>
        </p:nvSpPr>
        <p:spPr>
          <a:xfrm>
            <a:off x="5687568" y="1847088"/>
            <a:ext cx="219456" cy="21945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ctr" lIns="22860" rIns="22860" tIns="22860" bIns="2286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3</a:t>
            </a:r>
            <a:endParaRPr lang="en-US" sz="1200"/>
          </a:p>
        </p:txBody>
      </p:sp>
      <p:sp>
        <p:nvSpPr>
          <p:cNvPr id="20" name="Step Copy 20"/>
          <p:cNvSpPr/>
          <p:nvPr/>
        </p:nvSpPr>
        <p:spPr>
          <a:xfrm>
            <a:off x="5980176" y="1847088"/>
            <a:ext cx="1956816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400" b="1">
                <a:solidFill>
                  <a:srgbClr val="1A2030"/>
                </a:solidFill>
              </a:rPr>
              <a:t>Show history</a:t>
            </a:r>
            <a:endParaRPr lang="en-US" sz="1400"/>
          </a:p>
          <a:p>
            <a:r>
              <a:rPr lang="en-US" sz="1200">
                <a:solidFill>
                  <a:srgbClr val="5A6A80"/>
                </a:solidFill>
              </a:rPr>
              <a:t>Dashboard updates status, ranges, and trends.</a:t>
            </a:r>
            <a:endParaRPr lang="en-US" sz="1200"/>
          </a:p>
        </p:txBody>
      </p:sp>
      <p:sp>
        <p:nvSpPr>
          <p:cNvPr id="21" name="Step Card 21"/>
          <p:cNvSpPr/>
          <p:nvPr/>
        </p:nvSpPr>
        <p:spPr>
          <a:xfrm>
            <a:off x="8101584" y="1773936"/>
            <a:ext cx="2395728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A0B0C0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2" name="Step Number 22"/>
          <p:cNvSpPr/>
          <p:nvPr/>
        </p:nvSpPr>
        <p:spPr>
          <a:xfrm>
            <a:off x="8174736" y="1847088"/>
            <a:ext cx="219456" cy="21945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ctr" lIns="22860" rIns="22860" tIns="22860" bIns="2286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4</a:t>
            </a:r>
            <a:endParaRPr lang="en-US" sz="1200"/>
          </a:p>
        </p:txBody>
      </p:sp>
      <p:sp>
        <p:nvSpPr>
          <p:cNvPr id="23" name="Step Copy 23"/>
          <p:cNvSpPr/>
          <p:nvPr/>
        </p:nvSpPr>
        <p:spPr>
          <a:xfrm>
            <a:off x="8467344" y="1847088"/>
            <a:ext cx="1956816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400" b="1">
                <a:solidFill>
                  <a:srgbClr val="1A2030"/>
                </a:solidFill>
              </a:rPr>
              <a:t>Explain clearly</a:t>
            </a:r>
            <a:endParaRPr lang="en-US" sz="1400"/>
          </a:p>
          <a:p>
            <a:r>
              <a:rPr lang="en-US" sz="1200">
                <a:solidFill>
                  <a:srgbClr val="5A6A80"/>
                </a:solidFill>
              </a:rPr>
              <a:t>AI adds plain-language interpretation with context.</a:t>
            </a:r>
            <a:endParaRPr lang="en-US" sz="1200"/>
          </a:p>
        </p:txBody>
      </p:sp>
      <p:sp>
        <p:nvSpPr>
          <p:cNvPr id="24" name="Panel 24"/>
          <p:cNvSpPr/>
          <p:nvPr/>
        </p:nvSpPr>
        <p:spPr>
          <a:xfrm>
            <a:off x="640080" y="3191256"/>
            <a:ext cx="4800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5" name="Panel Accent 25"/>
          <p:cNvSpPr/>
          <p:nvPr/>
        </p:nvSpPr>
        <p:spPr>
          <a:xfrm>
            <a:off x="640080" y="3191256"/>
            <a:ext cx="480060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6" name="Panel Body 26"/>
          <p:cNvSpPr/>
          <p:nvPr/>
        </p:nvSpPr>
        <p:spPr>
          <a:xfrm>
            <a:off x="731520" y="3264408"/>
            <a:ext cx="4617720" cy="19110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Pipeline status language</a:t>
            </a:r>
            <a:endParaRPr lang="en-US" sz="1500"/>
          </a:p>
          <a:p>
            <a:r>
              <a:rPr lang="en-US" sz="1300">
                <a:solidFill>
                  <a:srgbClr val="5A6A80"/>
                </a:solidFill>
              </a:rPr>
              <a:t>• Uploading: store the document and start orchestration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Reading: parse image/PDF content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Extracting: map values and ranges into structure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Generating: produce AI interpretation</a:t>
            </a:r>
            <a:endParaRPr lang="en-US" sz="1300"/>
          </a:p>
        </p:txBody>
      </p:sp>
      <p:sp>
        <p:nvSpPr>
          <p:cNvPr id="27" name="Callout Box 27"/>
          <p:cNvSpPr/>
          <p:nvPr/>
        </p:nvSpPr>
        <p:spPr>
          <a:xfrm>
            <a:off x="5577840" y="3191256"/>
            <a:ext cx="5974080" cy="91440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8" name="Callout Bar 28"/>
          <p:cNvSpPr/>
          <p:nvPr/>
        </p:nvSpPr>
        <p:spPr>
          <a:xfrm>
            <a:off x="5577840" y="3191256"/>
            <a:ext cx="45720" cy="914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9" name="Callout Text 29"/>
          <p:cNvSpPr/>
          <p:nvPr/>
        </p:nvSpPr>
        <p:spPr>
          <a:xfrm>
            <a:off x="5669280" y="3264408"/>
            <a:ext cx="5791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DAA520"/>
                </a:solidFill>
              </a:rPr>
              <a:t>Edge cases are first-class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Partial extraction is preserved and the user gets a guided retry instead of a dead end.</a:t>
            </a:r>
            <a:endParaRPr lang="en-US" sz="1400"/>
          </a:p>
        </p:txBody>
      </p:sp>
      <p:sp>
        <p:nvSpPr>
          <p:cNvPr id="30" name="Callout Box 30"/>
          <p:cNvSpPr/>
          <p:nvPr/>
        </p:nvSpPr>
        <p:spPr>
          <a:xfrm>
            <a:off x="5577840" y="4242816"/>
            <a:ext cx="5974080" cy="91440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31" name="Callout Bar 31"/>
          <p:cNvSpPr/>
          <p:nvPr/>
        </p:nvSpPr>
        <p:spPr>
          <a:xfrm>
            <a:off x="5577840" y="4242816"/>
            <a:ext cx="45720" cy="9144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32" name="Callout Text 32"/>
          <p:cNvSpPr/>
          <p:nvPr/>
        </p:nvSpPr>
        <p:spPr>
          <a:xfrm>
            <a:off x="5669280" y="4315968"/>
            <a:ext cx="5791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2E8B57"/>
                </a:solidFill>
              </a:rPr>
              <a:t>The UI stays dense and legible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Status, reference ranges, and trend live in the table. Users do not have to open three layers of cards to understand one biomarker.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3" name="Top Accent Bar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4" name="Title Divider 4"/>
          <p:cNvSpPr/>
          <p:nvPr/>
        </p:nvSpPr>
        <p:spPr>
          <a:xfrm>
            <a:off x="640080" y="1463040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5" name="Brand 5"/>
          <p:cNvSpPr/>
          <p:nvPr/>
        </p:nvSpPr>
        <p:spPr>
          <a:xfrm>
            <a:off x="640080" y="20116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HealthCabinet</a:t>
            </a:r>
            <a:endParaRPr lang="en-US" sz="1200"/>
          </a:p>
        </p:txBody>
      </p:sp>
      <p:sp>
        <p:nvSpPr>
          <p:cNvPr id="6" name="Header Meta 6"/>
          <p:cNvSpPr/>
          <p:nvPr/>
        </p:nvSpPr>
        <p:spPr>
          <a:xfrm>
            <a:off x="9540240" y="2011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pPr algn="r"/>
            <a:r>
              <a:rPr lang="en-US" sz="1200">
                <a:solidFill>
                  <a:srgbClr val="5A6A80"/>
                </a:solidFill>
              </a:rPr>
              <a:t>Compounding loop</a:t>
            </a:r>
            <a:endParaRPr lang="en-US" sz="1200"/>
          </a:p>
          <a:p>
            <a:pPr algn="r"/>
            <a:r>
              <a:rPr lang="en-US" sz="2000" b="1">
                <a:solidFill>
                  <a:srgbClr val="8898A8"/>
                </a:solidFill>
              </a:rPr>
              <a:t>05</a:t>
            </a:r>
            <a:endParaRPr lang="en-US" sz="2000"/>
          </a:p>
        </p:txBody>
      </p:sp>
      <p:sp>
        <p:nvSpPr>
          <p:cNvPr id="7" name="Footer Divider 7"/>
          <p:cNvSpPr/>
          <p:nvPr/>
        </p:nvSpPr>
        <p:spPr>
          <a:xfrm>
            <a:off x="640080" y="6565392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8" name="Footer Brand 8"/>
          <p:cNvSpPr/>
          <p:nvPr/>
        </p:nvSpPr>
        <p:spPr>
          <a:xfrm>
            <a:off x="640080" y="660196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100">
                <a:solidFill>
                  <a:srgbClr val="8898A8"/>
                </a:solidFill>
              </a:rPr>
              <a:t>HealthCabinet / Pitch Deck</a:t>
            </a:r>
            <a:endParaRPr lang="en-US" sz="1100"/>
          </a:p>
        </p:txBody>
      </p:sp>
      <p:sp>
        <p:nvSpPr>
          <p:cNvPr id="9" name="Footer Section 9"/>
          <p:cNvSpPr/>
          <p:nvPr/>
        </p:nvSpPr>
        <p:spPr>
          <a:xfrm>
            <a:off x="3383280" y="6601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ctr"/>
            <a:r>
              <a:rPr lang="en-US" sz="1100">
                <a:solidFill>
                  <a:srgbClr val="5A6A80"/>
                </a:solidFill>
              </a:rPr>
              <a:t>Loop</a:t>
            </a:r>
            <a:endParaRPr lang="en-US" sz="1100"/>
          </a:p>
        </p:txBody>
      </p:sp>
      <p:sp>
        <p:nvSpPr>
          <p:cNvPr id="10" name="Footer Page 10"/>
          <p:cNvSpPr/>
          <p:nvPr/>
        </p:nvSpPr>
        <p:spPr>
          <a:xfrm>
            <a:off x="10454640" y="660196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r"/>
            <a:r>
              <a:rPr lang="en-US" sz="1100">
                <a:solidFill>
                  <a:srgbClr val="8898A8"/>
                </a:solidFill>
              </a:rPr>
              <a:t>5</a:t>
            </a:r>
            <a:endParaRPr lang="en-US" sz="1100"/>
          </a:p>
        </p:txBody>
      </p:sp>
      <p:sp>
        <p:nvSpPr>
          <p:cNvPr id="11" name="Title Block 11"/>
          <p:cNvSpPr/>
          <p:nvPr/>
        </p:nvSpPr>
        <p:spPr>
          <a:xfrm>
            <a:off x="640080" y="475488"/>
            <a:ext cx="10911840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Import -&gt; understand -&gt; trust the platform more</a:t>
            </a:r>
            <a:endParaRPr lang="en-US" sz="1200"/>
          </a:p>
          <a:p>
            <a:r>
              <a:rPr lang="en-US" sz="2800" b="1">
                <a:solidFill>
                  <a:srgbClr val="1A2030"/>
                </a:solidFill>
              </a:rPr>
              <a:t>Each upload increases product value instead of merely creating another record.</a:t>
            </a:r>
            <a:endParaRPr lang="en-US" sz="2800"/>
          </a:p>
          <a:p>
            <a:r>
              <a:rPr lang="en-US" sz="1500">
                <a:solidFill>
                  <a:srgbClr val="5A6A80"/>
                </a:solidFill>
              </a:rPr>
              <a:t>The retention engine is simple: the product becomes more useful because the history gets denser and the context gets stronger.</a:t>
            </a:r>
            <a:endParaRPr lang="en-US" sz="1500"/>
          </a:p>
        </p:txBody>
      </p:sp>
      <p:sp>
        <p:nvSpPr>
          <p:cNvPr id="12" name="Metric Card 12"/>
          <p:cNvSpPr/>
          <p:nvPr/>
        </p:nvSpPr>
        <p:spPr>
          <a:xfrm>
            <a:off x="640080" y="1773936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3" name="Metric Accent 13"/>
          <p:cNvSpPr/>
          <p:nvPr/>
        </p:nvSpPr>
        <p:spPr>
          <a:xfrm>
            <a:off x="640080" y="1773936"/>
            <a:ext cx="2377440" cy="4572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4" name="Metric Text 14"/>
          <p:cNvSpPr/>
          <p:nvPr/>
        </p:nvSpPr>
        <p:spPr>
          <a:xfrm>
            <a:off x="713232" y="1865376"/>
            <a:ext cx="2231136" cy="886968"/>
          </a:xfrm>
          <a:prstGeom prst="rect">
            <a:avLst/>
          </a:prstGeom>
          <a:noFill/>
          <a:ln>
            <a:noFill/>
          </a:ln>
        </p:spPr>
        <p:txBody>
          <a:bodyPr wrap="square" anchor="ctr" lIns="22860" rIns="22860" tIns="22860" bIns="22860"/>
          <a:lstStyle/>
          <a:p>
            <a:pPr algn="ctr"/>
            <a:r>
              <a:rPr lang="en-US" sz="1100" b="1">
                <a:solidFill>
                  <a:srgbClr val="5A6A80"/>
                </a:solidFill>
              </a:rPr>
              <a:t>Step 1</a:t>
            </a:r>
            <a:endParaRPr lang="en-US" sz="1100"/>
          </a:p>
          <a:p>
            <a:pPr algn="ctr"/>
            <a:r>
              <a:rPr lang="en-US" sz="2200" b="1">
                <a:solidFill>
                  <a:srgbClr val="1A2030"/>
                </a:solidFill>
              </a:rPr>
              <a:t>Upload</a:t>
            </a:r>
            <a:endParaRPr lang="en-US" sz="2200"/>
          </a:p>
          <a:p>
            <a:pPr algn="ctr"/>
            <a:r>
              <a:rPr lang="en-US" sz="1200">
                <a:solidFill>
                  <a:srgbClr val="5A6A80"/>
                </a:solidFill>
              </a:rPr>
              <a:t>Any lab document enters the system.</a:t>
            </a:r>
            <a:endParaRPr lang="en-US" sz="1200"/>
          </a:p>
        </p:txBody>
      </p:sp>
      <p:sp>
        <p:nvSpPr>
          <p:cNvPr id="15" name="Metric Card 15"/>
          <p:cNvSpPr/>
          <p:nvPr/>
        </p:nvSpPr>
        <p:spPr>
          <a:xfrm>
            <a:off x="3108960" y="1773936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6" name="Metric Accent 16"/>
          <p:cNvSpPr/>
          <p:nvPr/>
        </p:nvSpPr>
        <p:spPr>
          <a:xfrm>
            <a:off x="3108960" y="1773936"/>
            <a:ext cx="2377440" cy="4572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7" name="Metric Text 17"/>
          <p:cNvSpPr/>
          <p:nvPr/>
        </p:nvSpPr>
        <p:spPr>
          <a:xfrm>
            <a:off x="3182112" y="1865376"/>
            <a:ext cx="2231136" cy="886968"/>
          </a:xfrm>
          <a:prstGeom prst="rect">
            <a:avLst/>
          </a:prstGeom>
          <a:noFill/>
          <a:ln>
            <a:noFill/>
          </a:ln>
        </p:spPr>
        <p:txBody>
          <a:bodyPr wrap="square" anchor="ctr" lIns="22860" rIns="22860" tIns="22860" bIns="22860"/>
          <a:lstStyle/>
          <a:p>
            <a:pPr algn="ctr"/>
            <a:r>
              <a:rPr lang="en-US" sz="1100" b="1">
                <a:solidFill>
                  <a:srgbClr val="5A6A80"/>
                </a:solidFill>
              </a:rPr>
              <a:t>Step 2</a:t>
            </a:r>
            <a:endParaRPr lang="en-US" sz="1100"/>
          </a:p>
          <a:p>
            <a:pPr algn="ctr"/>
            <a:r>
              <a:rPr lang="en-US" sz="2200" b="1">
                <a:solidFill>
                  <a:srgbClr val="1A2030"/>
                </a:solidFill>
              </a:rPr>
              <a:t>Structure</a:t>
            </a:r>
            <a:endParaRPr lang="en-US" sz="2200"/>
          </a:p>
          <a:p>
            <a:pPr algn="ctr"/>
            <a:r>
              <a:rPr lang="en-US" sz="1200">
                <a:solidFill>
                  <a:srgbClr val="5A6A80"/>
                </a:solidFill>
              </a:rPr>
              <a:t>Values become queryable history.</a:t>
            </a:r>
            <a:endParaRPr lang="en-US" sz="1200"/>
          </a:p>
        </p:txBody>
      </p:sp>
      <p:sp>
        <p:nvSpPr>
          <p:cNvPr id="18" name="Metric Card 18"/>
          <p:cNvSpPr/>
          <p:nvPr/>
        </p:nvSpPr>
        <p:spPr>
          <a:xfrm>
            <a:off x="5577840" y="1773936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9" name="Metric Accent 19"/>
          <p:cNvSpPr/>
          <p:nvPr/>
        </p:nvSpPr>
        <p:spPr>
          <a:xfrm>
            <a:off x="5577840" y="1773936"/>
            <a:ext cx="2377440" cy="4572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0" name="Metric Text 20"/>
          <p:cNvSpPr/>
          <p:nvPr/>
        </p:nvSpPr>
        <p:spPr>
          <a:xfrm>
            <a:off x="5650992" y="1865376"/>
            <a:ext cx="2231136" cy="886968"/>
          </a:xfrm>
          <a:prstGeom prst="rect">
            <a:avLst/>
          </a:prstGeom>
          <a:noFill/>
          <a:ln>
            <a:noFill/>
          </a:ln>
        </p:spPr>
        <p:txBody>
          <a:bodyPr wrap="square" anchor="ctr" lIns="22860" rIns="22860" tIns="22860" bIns="22860"/>
          <a:lstStyle/>
          <a:p>
            <a:pPr algn="ctr"/>
            <a:r>
              <a:rPr lang="en-US" sz="1100" b="1">
                <a:solidFill>
                  <a:srgbClr val="5A6A80"/>
                </a:solidFill>
              </a:rPr>
              <a:t>Step 3</a:t>
            </a:r>
            <a:endParaRPr lang="en-US" sz="1100"/>
          </a:p>
          <a:p>
            <a:pPr algn="ctr"/>
            <a:r>
              <a:rPr lang="en-US" sz="2200" b="1">
                <a:solidFill>
                  <a:srgbClr val="1A2030"/>
                </a:solidFill>
              </a:rPr>
              <a:t>Interpret</a:t>
            </a:r>
            <a:endParaRPr lang="en-US" sz="2200"/>
          </a:p>
          <a:p>
            <a:pPr algn="ctr"/>
            <a:r>
              <a:rPr lang="en-US" sz="1200">
                <a:solidFill>
                  <a:srgbClr val="5A6A80"/>
                </a:solidFill>
              </a:rPr>
              <a:t>AI explains the latest picture clearly.</a:t>
            </a:r>
            <a:endParaRPr lang="en-US" sz="1200"/>
          </a:p>
        </p:txBody>
      </p:sp>
      <p:sp>
        <p:nvSpPr>
          <p:cNvPr id="21" name="Metric Card 21"/>
          <p:cNvSpPr/>
          <p:nvPr/>
        </p:nvSpPr>
        <p:spPr>
          <a:xfrm>
            <a:off x="8046720" y="1773936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2" name="Metric Accent 22"/>
          <p:cNvSpPr/>
          <p:nvPr/>
        </p:nvSpPr>
        <p:spPr>
          <a:xfrm>
            <a:off x="8046720" y="1773936"/>
            <a:ext cx="2377440" cy="4572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3" name="Metric Text 23"/>
          <p:cNvSpPr/>
          <p:nvPr/>
        </p:nvSpPr>
        <p:spPr>
          <a:xfrm>
            <a:off x="8119872" y="1865376"/>
            <a:ext cx="2231136" cy="886968"/>
          </a:xfrm>
          <a:prstGeom prst="rect">
            <a:avLst/>
          </a:prstGeom>
          <a:noFill/>
          <a:ln>
            <a:noFill/>
          </a:ln>
        </p:spPr>
        <p:txBody>
          <a:bodyPr wrap="square" anchor="ctr" lIns="22860" rIns="22860" tIns="22860" bIns="22860"/>
          <a:lstStyle/>
          <a:p>
            <a:pPr algn="ctr"/>
            <a:r>
              <a:rPr lang="en-US" sz="1100" b="1">
                <a:solidFill>
                  <a:srgbClr val="5A6A80"/>
                </a:solidFill>
              </a:rPr>
              <a:t>Step 4</a:t>
            </a:r>
            <a:endParaRPr lang="en-US" sz="1100"/>
          </a:p>
          <a:p>
            <a:pPr algn="ctr"/>
            <a:r>
              <a:rPr lang="en-US" sz="2200" b="1">
                <a:solidFill>
                  <a:srgbClr val="1A2030"/>
                </a:solidFill>
              </a:rPr>
              <a:t>Compound</a:t>
            </a:r>
            <a:endParaRPr lang="en-US" sz="2200"/>
          </a:p>
          <a:p>
            <a:pPr algn="ctr"/>
            <a:r>
              <a:rPr lang="en-US" sz="1200">
                <a:solidFill>
                  <a:srgbClr val="5A6A80"/>
                </a:solidFill>
              </a:rPr>
              <a:t>The next upload becomes more valuable.</a:t>
            </a:r>
            <a:endParaRPr lang="en-US" sz="1200"/>
          </a:p>
        </p:txBody>
      </p:sp>
      <p:sp>
        <p:nvSpPr>
          <p:cNvPr id="24" name="Panel 24"/>
          <p:cNvSpPr/>
          <p:nvPr/>
        </p:nvSpPr>
        <p:spPr>
          <a:xfrm>
            <a:off x="640080" y="3008376"/>
            <a:ext cx="4709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5" name="Panel Accent 25"/>
          <p:cNvSpPr/>
          <p:nvPr/>
        </p:nvSpPr>
        <p:spPr>
          <a:xfrm>
            <a:off x="640080" y="3008376"/>
            <a:ext cx="470916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6" name="Panel Body 26"/>
          <p:cNvSpPr/>
          <p:nvPr/>
        </p:nvSpPr>
        <p:spPr>
          <a:xfrm>
            <a:off x="731520" y="3081528"/>
            <a:ext cx="4526280" cy="20482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Why retention can work</a:t>
            </a:r>
            <a:endParaRPr lang="en-US" sz="1500"/>
          </a:p>
          <a:p>
            <a:r>
              <a:rPr lang="en-US" sz="1300">
                <a:solidFill>
                  <a:srgbClr val="5A6A80"/>
                </a:solidFill>
              </a:rPr>
              <a:t>• The product gains context with each new document.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Trend visibility becomes stronger after the second and third upload.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AI can reason across time instead of summarizing isolated data.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The user starts to rely on HealthCabinet as their memory layer.</a:t>
            </a:r>
            <a:endParaRPr lang="en-US" sz="1300"/>
          </a:p>
        </p:txBody>
      </p:sp>
      <p:sp>
        <p:nvSpPr>
          <p:cNvPr id="27" name="Panel 27"/>
          <p:cNvSpPr/>
          <p:nvPr/>
        </p:nvSpPr>
        <p:spPr>
          <a:xfrm>
            <a:off x="5486400" y="3008376"/>
            <a:ext cx="6065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8" name="Panel Accent 28"/>
          <p:cNvSpPr/>
          <p:nvPr/>
        </p:nvSpPr>
        <p:spPr>
          <a:xfrm>
            <a:off x="5486400" y="3008376"/>
            <a:ext cx="606552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9" name="Panel Body 29"/>
          <p:cNvSpPr/>
          <p:nvPr/>
        </p:nvSpPr>
        <p:spPr>
          <a:xfrm>
            <a:off x="5577840" y="3081528"/>
            <a:ext cx="5882640" cy="20482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Not just another AI wrapper</a:t>
            </a:r>
            <a:endParaRPr lang="en-US" sz="1500"/>
          </a:p>
          <a:p>
            <a:r>
              <a:rPr lang="en-US" sz="1300">
                <a:solidFill>
                  <a:srgbClr val="5A6A80"/>
                </a:solidFill>
              </a:rPr>
              <a:t>• Arbitrary document intake instead of narrow lab integrations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Cross-upload memory as a core behavior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Dense clinical table UI as part of product language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Admin correction workflow for real-world extraction edge cases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3" name="Top Accent Bar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4" name="Title Divider 4"/>
          <p:cNvSpPr/>
          <p:nvPr/>
        </p:nvSpPr>
        <p:spPr>
          <a:xfrm>
            <a:off x="640080" y="1463040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5" name="Brand 5"/>
          <p:cNvSpPr/>
          <p:nvPr/>
        </p:nvSpPr>
        <p:spPr>
          <a:xfrm>
            <a:off x="640080" y="20116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HealthCabinet</a:t>
            </a:r>
            <a:endParaRPr lang="en-US" sz="1200"/>
          </a:p>
        </p:txBody>
      </p:sp>
      <p:sp>
        <p:nvSpPr>
          <p:cNvPr id="6" name="Header Meta 6"/>
          <p:cNvSpPr/>
          <p:nvPr/>
        </p:nvSpPr>
        <p:spPr>
          <a:xfrm>
            <a:off x="9540240" y="2011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pPr algn="r"/>
            <a:r>
              <a:rPr lang="en-US" sz="1200">
                <a:solidFill>
                  <a:srgbClr val="5A6A80"/>
                </a:solidFill>
              </a:rPr>
              <a:t>Trust and safety</a:t>
            </a:r>
            <a:endParaRPr lang="en-US" sz="1200"/>
          </a:p>
          <a:p>
            <a:pPr algn="r"/>
            <a:r>
              <a:rPr lang="en-US" sz="2000" b="1">
                <a:solidFill>
                  <a:srgbClr val="8898A8"/>
                </a:solidFill>
              </a:rPr>
              <a:t>06</a:t>
            </a:r>
            <a:endParaRPr lang="en-US" sz="2000"/>
          </a:p>
        </p:txBody>
      </p:sp>
      <p:sp>
        <p:nvSpPr>
          <p:cNvPr id="7" name="Footer Divider 7"/>
          <p:cNvSpPr/>
          <p:nvPr/>
        </p:nvSpPr>
        <p:spPr>
          <a:xfrm>
            <a:off x="640080" y="6565392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8" name="Footer Brand 8"/>
          <p:cNvSpPr/>
          <p:nvPr/>
        </p:nvSpPr>
        <p:spPr>
          <a:xfrm>
            <a:off x="640080" y="660196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100">
                <a:solidFill>
                  <a:srgbClr val="8898A8"/>
                </a:solidFill>
              </a:rPr>
              <a:t>HealthCabinet / Pitch Deck</a:t>
            </a:r>
            <a:endParaRPr lang="en-US" sz="1100"/>
          </a:p>
        </p:txBody>
      </p:sp>
      <p:sp>
        <p:nvSpPr>
          <p:cNvPr id="9" name="Footer Section 9"/>
          <p:cNvSpPr/>
          <p:nvPr/>
        </p:nvSpPr>
        <p:spPr>
          <a:xfrm>
            <a:off x="3383280" y="6601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ctr"/>
            <a:r>
              <a:rPr lang="en-US" sz="1100">
                <a:solidFill>
                  <a:srgbClr val="5A6A80"/>
                </a:solidFill>
              </a:rPr>
              <a:t>Trust</a:t>
            </a:r>
            <a:endParaRPr lang="en-US" sz="1100"/>
          </a:p>
        </p:txBody>
      </p:sp>
      <p:sp>
        <p:nvSpPr>
          <p:cNvPr id="10" name="Footer Page 10"/>
          <p:cNvSpPr/>
          <p:nvPr/>
        </p:nvSpPr>
        <p:spPr>
          <a:xfrm>
            <a:off x="10454640" y="660196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r"/>
            <a:r>
              <a:rPr lang="en-US" sz="1100">
                <a:solidFill>
                  <a:srgbClr val="8898A8"/>
                </a:solidFill>
              </a:rPr>
              <a:t>6</a:t>
            </a:r>
            <a:endParaRPr lang="en-US" sz="1100"/>
          </a:p>
        </p:txBody>
      </p:sp>
      <p:sp>
        <p:nvSpPr>
          <p:cNvPr id="11" name="Title Block 11"/>
          <p:cNvSpPr/>
          <p:nvPr/>
        </p:nvSpPr>
        <p:spPr>
          <a:xfrm>
            <a:off x="640080" y="475488"/>
            <a:ext cx="10911840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Sensitive product, serious handling</a:t>
            </a:r>
            <a:endParaRPr lang="en-US" sz="1200"/>
          </a:p>
          <a:p>
            <a:r>
              <a:rPr lang="en-US" sz="2800" b="1">
                <a:solidFill>
                  <a:srgbClr val="1A2030"/>
                </a:solidFill>
              </a:rPr>
              <a:t>The trust model is part of the product, not a footer afterthought.</a:t>
            </a:r>
            <a:endParaRPr lang="en-US" sz="2800"/>
          </a:p>
          <a:p>
            <a:r>
              <a:rPr lang="en-US" sz="1500">
                <a:solidFill>
                  <a:srgbClr val="5A6A80"/>
                </a:solidFill>
              </a:rPr>
              <a:t>Health products fail when safety and control are treated as polish instead of product behavior.</a:t>
            </a:r>
            <a:endParaRPr lang="en-US" sz="1500"/>
          </a:p>
        </p:txBody>
      </p:sp>
      <p:sp>
        <p:nvSpPr>
          <p:cNvPr id="12" name="Panel 12"/>
          <p:cNvSpPr/>
          <p:nvPr/>
        </p:nvSpPr>
        <p:spPr>
          <a:xfrm>
            <a:off x="640080" y="1773936"/>
            <a:ext cx="4800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3" name="Panel Accent 13"/>
          <p:cNvSpPr/>
          <p:nvPr/>
        </p:nvSpPr>
        <p:spPr>
          <a:xfrm>
            <a:off x="640080" y="1773936"/>
            <a:ext cx="480060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4" name="Panel Body 14"/>
          <p:cNvSpPr/>
          <p:nvPr/>
        </p:nvSpPr>
        <p:spPr>
          <a:xfrm>
            <a:off x="731520" y="1847088"/>
            <a:ext cx="4617720" cy="218541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Data and compliance posture</a:t>
            </a:r>
            <a:endParaRPr lang="en-US" sz="1500"/>
          </a:p>
          <a:p>
            <a:r>
              <a:rPr lang="en-US" sz="1300">
                <a:solidFill>
                  <a:srgbClr val="5A6A80"/>
                </a:solidFill>
              </a:rPr>
              <a:t>• AWS eu-central-1 target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Consent, export, and deletion flows in scope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Encryption posture for health data and tokens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No casual treatment of special-category health data</a:t>
            </a:r>
            <a:endParaRPr lang="en-US" sz="1300"/>
          </a:p>
        </p:txBody>
      </p:sp>
      <p:sp>
        <p:nvSpPr>
          <p:cNvPr id="15" name="Panel 15"/>
          <p:cNvSpPr/>
          <p:nvPr/>
        </p:nvSpPr>
        <p:spPr>
          <a:xfrm>
            <a:off x="5577840" y="1773936"/>
            <a:ext cx="59740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6" name="Panel Accent 16"/>
          <p:cNvSpPr/>
          <p:nvPr/>
        </p:nvSpPr>
        <p:spPr>
          <a:xfrm>
            <a:off x="5577840" y="1773936"/>
            <a:ext cx="597408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7" name="Panel Body 17"/>
          <p:cNvSpPr/>
          <p:nvPr/>
        </p:nvSpPr>
        <p:spPr>
          <a:xfrm>
            <a:off x="5669280" y="1847088"/>
            <a:ext cx="5791200" cy="218541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AI safety posture</a:t>
            </a:r>
            <a:endParaRPr lang="en-US" sz="1500"/>
          </a:p>
          <a:p>
            <a:r>
              <a:rPr lang="en-US" sz="1300">
                <a:solidFill>
                  <a:srgbClr val="5A6A80"/>
                </a:solidFill>
              </a:rPr>
              <a:t>• Informational, not diagnostic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Uncertainty should be surfaced, not hidden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No treatment or dosage instruction framing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Human review path exists for extraction edge cases</a:t>
            </a:r>
            <a:endParaRPr lang="en-US" sz="1300"/>
          </a:p>
        </p:txBody>
      </p:sp>
      <p:sp>
        <p:nvSpPr>
          <p:cNvPr id="18" name="Callout Box 18"/>
          <p:cNvSpPr/>
          <p:nvPr/>
        </p:nvSpPr>
        <p:spPr>
          <a:xfrm>
            <a:off x="640080" y="4288536"/>
            <a:ext cx="3154680" cy="100584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9" name="Callout Bar 19"/>
          <p:cNvSpPr/>
          <p:nvPr/>
        </p:nvSpPr>
        <p:spPr>
          <a:xfrm>
            <a:off x="640080" y="4288536"/>
            <a:ext cx="45720" cy="10058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0" name="Callout Text 20"/>
          <p:cNvSpPr/>
          <p:nvPr/>
        </p:nvSpPr>
        <p:spPr>
          <a:xfrm>
            <a:off x="731520" y="4361688"/>
            <a:ext cx="29718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2E8B57"/>
                </a:solidFill>
              </a:rPr>
              <a:t>Patient trust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Users need to believe their history is secure, exportable, and under their control.</a:t>
            </a:r>
            <a:endParaRPr lang="en-US" sz="1400"/>
          </a:p>
        </p:txBody>
      </p:sp>
      <p:sp>
        <p:nvSpPr>
          <p:cNvPr id="21" name="Callout Box 21"/>
          <p:cNvSpPr/>
          <p:nvPr/>
        </p:nvSpPr>
        <p:spPr>
          <a:xfrm>
            <a:off x="3913632" y="4288536"/>
            <a:ext cx="3154680" cy="100584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2" name="Callout Bar 22"/>
          <p:cNvSpPr/>
          <p:nvPr/>
        </p:nvSpPr>
        <p:spPr>
          <a:xfrm>
            <a:off x="3913632" y="4288536"/>
            <a:ext cx="45720" cy="100584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3" name="Callout Text 23"/>
          <p:cNvSpPr/>
          <p:nvPr/>
        </p:nvSpPr>
        <p:spPr>
          <a:xfrm>
            <a:off x="4005072" y="4361688"/>
            <a:ext cx="29718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DAA520"/>
                </a:solidFill>
              </a:rPr>
              <a:t>Operational trust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Admin tools matter because document intelligence will always have edge cases.</a:t>
            </a:r>
            <a:endParaRPr lang="en-US" sz="1400"/>
          </a:p>
        </p:txBody>
      </p:sp>
      <p:sp>
        <p:nvSpPr>
          <p:cNvPr id="24" name="Callout Box 24"/>
          <p:cNvSpPr/>
          <p:nvPr/>
        </p:nvSpPr>
        <p:spPr>
          <a:xfrm>
            <a:off x="7187184" y="4288536"/>
            <a:ext cx="4364736" cy="100584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5" name="Callout Bar 25"/>
          <p:cNvSpPr/>
          <p:nvPr/>
        </p:nvSpPr>
        <p:spPr>
          <a:xfrm>
            <a:off x="7187184" y="4288536"/>
            <a:ext cx="45720" cy="100584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6" name="Callout Text 26"/>
          <p:cNvSpPr/>
          <p:nvPr/>
        </p:nvSpPr>
        <p:spPr>
          <a:xfrm>
            <a:off x="7278624" y="4361688"/>
            <a:ext cx="4181856" cy="85953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3366FF"/>
                </a:solidFill>
              </a:rPr>
              <a:t>Brand trust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The clinical UI helps, but real credibility comes from bounded claims and visible safety choices.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3" name="Top Accent Bar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4" name="Title Divider 4"/>
          <p:cNvSpPr/>
          <p:nvPr/>
        </p:nvSpPr>
        <p:spPr>
          <a:xfrm>
            <a:off x="640080" y="1463040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5" name="Brand 5"/>
          <p:cNvSpPr/>
          <p:nvPr/>
        </p:nvSpPr>
        <p:spPr>
          <a:xfrm>
            <a:off x="640080" y="20116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HealthCabinet</a:t>
            </a:r>
            <a:endParaRPr lang="en-US" sz="1200"/>
          </a:p>
        </p:txBody>
      </p:sp>
      <p:sp>
        <p:nvSpPr>
          <p:cNvPr id="6" name="Header Meta 6"/>
          <p:cNvSpPr/>
          <p:nvPr/>
        </p:nvSpPr>
        <p:spPr>
          <a:xfrm>
            <a:off x="9540240" y="2011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pPr algn="r"/>
            <a:r>
              <a:rPr lang="en-US" sz="1200">
                <a:solidFill>
                  <a:srgbClr val="5A6A80"/>
                </a:solidFill>
              </a:rPr>
              <a:t>Build status</a:t>
            </a:r>
            <a:endParaRPr lang="en-US" sz="1200"/>
          </a:p>
          <a:p>
            <a:pPr algn="r"/>
            <a:r>
              <a:rPr lang="en-US" sz="2000" b="1">
                <a:solidFill>
                  <a:srgbClr val="8898A8"/>
                </a:solidFill>
              </a:rPr>
              <a:t>07</a:t>
            </a:r>
            <a:endParaRPr lang="en-US" sz="2000"/>
          </a:p>
        </p:txBody>
      </p:sp>
      <p:sp>
        <p:nvSpPr>
          <p:cNvPr id="7" name="Footer Divider 7"/>
          <p:cNvSpPr/>
          <p:nvPr/>
        </p:nvSpPr>
        <p:spPr>
          <a:xfrm>
            <a:off x="640080" y="6565392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8" name="Footer Brand 8"/>
          <p:cNvSpPr/>
          <p:nvPr/>
        </p:nvSpPr>
        <p:spPr>
          <a:xfrm>
            <a:off x="640080" y="660196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100">
                <a:solidFill>
                  <a:srgbClr val="8898A8"/>
                </a:solidFill>
              </a:rPr>
              <a:t>HealthCabinet / Pitch Deck</a:t>
            </a:r>
            <a:endParaRPr lang="en-US" sz="1100"/>
          </a:p>
        </p:txBody>
      </p:sp>
      <p:sp>
        <p:nvSpPr>
          <p:cNvPr id="9" name="Footer Section 9"/>
          <p:cNvSpPr/>
          <p:nvPr/>
        </p:nvSpPr>
        <p:spPr>
          <a:xfrm>
            <a:off x="3383280" y="6601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ctr"/>
            <a:r>
              <a:rPr lang="en-US" sz="1100">
                <a:solidFill>
                  <a:srgbClr val="5A6A80"/>
                </a:solidFill>
              </a:rPr>
              <a:t>Build</a:t>
            </a:r>
            <a:endParaRPr lang="en-US" sz="1100"/>
          </a:p>
        </p:txBody>
      </p:sp>
      <p:sp>
        <p:nvSpPr>
          <p:cNvPr id="10" name="Footer Page 10"/>
          <p:cNvSpPr/>
          <p:nvPr/>
        </p:nvSpPr>
        <p:spPr>
          <a:xfrm>
            <a:off x="10454640" y="660196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r"/>
            <a:r>
              <a:rPr lang="en-US" sz="1100">
                <a:solidFill>
                  <a:srgbClr val="8898A8"/>
                </a:solidFill>
              </a:rPr>
              <a:t>7</a:t>
            </a:r>
            <a:endParaRPr lang="en-US" sz="1100"/>
          </a:p>
        </p:txBody>
      </p:sp>
      <p:sp>
        <p:nvSpPr>
          <p:cNvPr id="11" name="Title Block 11"/>
          <p:cNvSpPr/>
          <p:nvPr/>
        </p:nvSpPr>
        <p:spPr>
          <a:xfrm>
            <a:off x="640080" y="475488"/>
            <a:ext cx="10911840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This is not deck-only positioning</a:t>
            </a:r>
            <a:endParaRPr lang="en-US" sz="1200"/>
          </a:p>
          <a:p>
            <a:r>
              <a:rPr lang="en-US" sz="2800" b="1">
                <a:solidFill>
                  <a:srgbClr val="1A2030"/>
                </a:solidFill>
              </a:rPr>
              <a:t>There is already product surface in the repository.</a:t>
            </a:r>
            <a:endParaRPr lang="en-US" sz="2800"/>
          </a:p>
          <a:p>
            <a:r>
              <a:rPr lang="en-US" sz="1500">
                <a:solidFill>
                  <a:srgbClr val="5A6A80"/>
                </a:solidFill>
              </a:rPr>
              <a:t>The pitch should describe an existing direction with working surfaces, not a hypothetical disconnected from the codebase.</a:t>
            </a:r>
            <a:endParaRPr lang="en-US" sz="1500"/>
          </a:p>
        </p:txBody>
      </p:sp>
      <p:sp>
        <p:nvSpPr>
          <p:cNvPr id="12" name="Panel 12"/>
          <p:cNvSpPr/>
          <p:nvPr/>
        </p:nvSpPr>
        <p:spPr>
          <a:xfrm>
            <a:off x="640080" y="1773936"/>
            <a:ext cx="47548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3" name="Panel Accent 13"/>
          <p:cNvSpPr/>
          <p:nvPr/>
        </p:nvSpPr>
        <p:spPr>
          <a:xfrm>
            <a:off x="640080" y="1773936"/>
            <a:ext cx="475488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4" name="Panel Body 14"/>
          <p:cNvSpPr/>
          <p:nvPr/>
        </p:nvSpPr>
        <p:spPr>
          <a:xfrm>
            <a:off x="731520" y="1847088"/>
            <a:ext cx="4572000" cy="245973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System shape</a:t>
            </a:r>
            <a:endParaRPr lang="en-US" sz="1500"/>
          </a:p>
          <a:p>
            <a:r>
              <a:rPr lang="en-US" sz="1300">
                <a:solidFill>
                  <a:srgbClr val="5A6A80"/>
                </a:solidFill>
              </a:rPr>
              <a:t>• Frontend: SvelteKit 2, Svelte 5, table-first clinical UI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Backend API: FastAPI, SQLAlchemy async, auth, document endpoints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Worker: ARQ pipeline for async document processing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Storage: PostgreSQL + MinIO / S3-compatible object storage</a:t>
            </a:r>
            <a:endParaRPr lang="en-US" sz="1300"/>
          </a:p>
        </p:txBody>
      </p:sp>
      <p:sp>
        <p:nvSpPr>
          <p:cNvPr id="15" name="Panel 15"/>
          <p:cNvSpPr/>
          <p:nvPr/>
        </p:nvSpPr>
        <p:spPr>
          <a:xfrm>
            <a:off x="5532120" y="1773936"/>
            <a:ext cx="6019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6" name="Panel Accent 16"/>
          <p:cNvSpPr/>
          <p:nvPr/>
        </p:nvSpPr>
        <p:spPr>
          <a:xfrm>
            <a:off x="5532120" y="1773936"/>
            <a:ext cx="601980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7" name="Panel Body 17"/>
          <p:cNvSpPr/>
          <p:nvPr/>
        </p:nvSpPr>
        <p:spPr>
          <a:xfrm>
            <a:off x="5623560" y="1847088"/>
            <a:ext cx="5836920" cy="245973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Visible repo capabilities</a:t>
            </a:r>
            <a:endParaRPr lang="en-US" sz="1500"/>
          </a:p>
          <a:p>
            <a:r>
              <a:rPr lang="en-US" sz="1300">
                <a:solidFill>
                  <a:srgbClr val="5A6A80"/>
                </a:solidFill>
              </a:rPr>
              <a:t>• Authentication and consent-aware signup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Medical onboarding and profile capture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Document upload and status streaming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Dashboard trends, AI clinical notes, and admin operations</a:t>
            </a:r>
            <a:endParaRPr lang="en-US" sz="1300"/>
          </a:p>
        </p:txBody>
      </p:sp>
      <p:sp>
        <p:nvSpPr>
          <p:cNvPr id="18" name="Callout Box 18"/>
          <p:cNvSpPr/>
          <p:nvPr/>
        </p:nvSpPr>
        <p:spPr>
          <a:xfrm>
            <a:off x="640080" y="4562856"/>
            <a:ext cx="10911840" cy="86868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9" name="Callout Bar 19"/>
          <p:cNvSpPr/>
          <p:nvPr/>
        </p:nvSpPr>
        <p:spPr>
          <a:xfrm>
            <a:off x="640080" y="4562856"/>
            <a:ext cx="45720" cy="86868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0" name="Callout Text 20"/>
          <p:cNvSpPr/>
          <p:nvPr/>
        </p:nvSpPr>
        <p:spPr>
          <a:xfrm>
            <a:off x="731520" y="4636008"/>
            <a:ext cx="10728960" cy="72237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3366FF"/>
                </a:solidFill>
              </a:rPr>
              <a:t>Credibility point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The pitch describes a repo-backed product direction with real application surfaces, not an empty strategy artifact.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3" name="Top Accent Bar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4" name="Title Divider 4"/>
          <p:cNvSpPr/>
          <p:nvPr/>
        </p:nvSpPr>
        <p:spPr>
          <a:xfrm>
            <a:off x="640080" y="1463040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5" name="Brand 5"/>
          <p:cNvSpPr/>
          <p:nvPr/>
        </p:nvSpPr>
        <p:spPr>
          <a:xfrm>
            <a:off x="640080" y="20116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HealthCabinet</a:t>
            </a:r>
            <a:endParaRPr lang="en-US" sz="1200"/>
          </a:p>
        </p:txBody>
      </p:sp>
      <p:sp>
        <p:nvSpPr>
          <p:cNvPr id="6" name="Header Meta 6"/>
          <p:cNvSpPr/>
          <p:nvPr/>
        </p:nvSpPr>
        <p:spPr>
          <a:xfrm>
            <a:off x="9540240" y="2011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pPr algn="r"/>
            <a:r>
              <a:rPr lang="en-US" sz="1200">
                <a:solidFill>
                  <a:srgbClr val="5A6A80"/>
                </a:solidFill>
              </a:rPr>
              <a:t>Business model</a:t>
            </a:r>
            <a:endParaRPr lang="en-US" sz="1200"/>
          </a:p>
          <a:p>
            <a:pPr algn="r"/>
            <a:r>
              <a:rPr lang="en-US" sz="2000" b="1">
                <a:solidFill>
                  <a:srgbClr val="8898A8"/>
                </a:solidFill>
              </a:rPr>
              <a:t>08</a:t>
            </a:r>
            <a:endParaRPr lang="en-US" sz="2000"/>
          </a:p>
        </p:txBody>
      </p:sp>
      <p:sp>
        <p:nvSpPr>
          <p:cNvPr id="7" name="Footer Divider 7"/>
          <p:cNvSpPr/>
          <p:nvPr/>
        </p:nvSpPr>
        <p:spPr>
          <a:xfrm>
            <a:off x="640080" y="6565392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8" name="Footer Brand 8"/>
          <p:cNvSpPr/>
          <p:nvPr/>
        </p:nvSpPr>
        <p:spPr>
          <a:xfrm>
            <a:off x="640080" y="660196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100">
                <a:solidFill>
                  <a:srgbClr val="8898A8"/>
                </a:solidFill>
              </a:rPr>
              <a:t>HealthCabinet / Pitch Deck</a:t>
            </a:r>
            <a:endParaRPr lang="en-US" sz="1100"/>
          </a:p>
        </p:txBody>
      </p:sp>
      <p:sp>
        <p:nvSpPr>
          <p:cNvPr id="9" name="Footer Section 9"/>
          <p:cNvSpPr/>
          <p:nvPr/>
        </p:nvSpPr>
        <p:spPr>
          <a:xfrm>
            <a:off x="3383280" y="6601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ctr"/>
            <a:r>
              <a:rPr lang="en-US" sz="1100">
                <a:solidFill>
                  <a:srgbClr val="5A6A80"/>
                </a:solidFill>
              </a:rPr>
              <a:t>Model</a:t>
            </a:r>
            <a:endParaRPr lang="en-US" sz="1100"/>
          </a:p>
        </p:txBody>
      </p:sp>
      <p:sp>
        <p:nvSpPr>
          <p:cNvPr id="10" name="Footer Page 10"/>
          <p:cNvSpPr/>
          <p:nvPr/>
        </p:nvSpPr>
        <p:spPr>
          <a:xfrm>
            <a:off x="10454640" y="660196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r"/>
            <a:r>
              <a:rPr lang="en-US" sz="1100">
                <a:solidFill>
                  <a:srgbClr val="8898A8"/>
                </a:solidFill>
              </a:rPr>
              <a:t>8</a:t>
            </a:r>
            <a:endParaRPr lang="en-US" sz="1100"/>
          </a:p>
        </p:txBody>
      </p:sp>
      <p:sp>
        <p:nvSpPr>
          <p:cNvPr id="11" name="Title Block 11"/>
          <p:cNvSpPr/>
          <p:nvPr/>
        </p:nvSpPr>
        <p:spPr>
          <a:xfrm>
            <a:off x="640080" y="475488"/>
            <a:ext cx="10911840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Validate the core loop before overbuilding monetization</a:t>
            </a:r>
            <a:endParaRPr lang="en-US" sz="1200"/>
          </a:p>
          <a:p>
            <a:r>
              <a:rPr lang="en-US" sz="2800" b="1">
                <a:solidFill>
                  <a:srgbClr val="1A2030"/>
                </a:solidFill>
              </a:rPr>
              <a:t>Freemium proves trust first. Premium layers onto real repeat usage.</a:t>
            </a:r>
            <a:endParaRPr lang="en-US" sz="2800"/>
          </a:p>
          <a:p>
            <a:r>
              <a:rPr lang="en-US" sz="1500">
                <a:solidFill>
                  <a:srgbClr val="5A6A80"/>
                </a:solidFill>
              </a:rPr>
              <a:t>The immediate goal is not complicated billing. It is proving that people return because the product becomes more useful over time.</a:t>
            </a:r>
            <a:endParaRPr lang="en-US" sz="1500"/>
          </a:p>
        </p:txBody>
      </p:sp>
      <p:sp>
        <p:nvSpPr>
          <p:cNvPr id="12" name="Panel 12"/>
          <p:cNvSpPr/>
          <p:nvPr/>
        </p:nvSpPr>
        <p:spPr>
          <a:xfrm>
            <a:off x="640080" y="1773936"/>
            <a:ext cx="48463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3" name="Panel Accent 13"/>
          <p:cNvSpPr/>
          <p:nvPr/>
        </p:nvSpPr>
        <p:spPr>
          <a:xfrm>
            <a:off x="640080" y="1773936"/>
            <a:ext cx="484632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4" name="Panel Body 14"/>
          <p:cNvSpPr/>
          <p:nvPr/>
        </p:nvSpPr>
        <p:spPr>
          <a:xfrm>
            <a:off x="731520" y="1847088"/>
            <a:ext cx="4663440" cy="23682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Commercial model</a:t>
            </a:r>
            <a:endParaRPr lang="en-US" sz="1500"/>
          </a:p>
          <a:p>
            <a:r>
              <a:rPr lang="en-US" sz="1300">
                <a:solidFill>
                  <a:srgbClr val="5A6A80"/>
                </a:solidFill>
              </a:rPr>
              <a:t>• Free tier proves the upload-to-insight loop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Paid tier unlocks deeper AI memory and richer trend history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Premium workflows layer on top of proven trust and retention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Family plans and upgrades become stronger after the core loop wins</a:t>
            </a:r>
            <a:endParaRPr lang="en-US" sz="1300"/>
          </a:p>
        </p:txBody>
      </p:sp>
      <p:sp>
        <p:nvSpPr>
          <p:cNvPr id="15" name="Panel 15"/>
          <p:cNvSpPr/>
          <p:nvPr/>
        </p:nvSpPr>
        <p:spPr>
          <a:xfrm>
            <a:off x="5623560" y="1773936"/>
            <a:ext cx="59283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6" name="Panel Accent 16"/>
          <p:cNvSpPr/>
          <p:nvPr/>
        </p:nvSpPr>
        <p:spPr>
          <a:xfrm>
            <a:off x="5623560" y="1773936"/>
            <a:ext cx="592836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7" name="Panel Body 17"/>
          <p:cNvSpPr/>
          <p:nvPr/>
        </p:nvSpPr>
        <p:spPr>
          <a:xfrm>
            <a:off x="5715000" y="1847088"/>
            <a:ext cx="5745480" cy="23682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Go-to-market wedge</a:t>
            </a:r>
            <a:endParaRPr lang="en-US" sz="1500"/>
          </a:p>
          <a:p>
            <a:r>
              <a:rPr lang="en-US" sz="1300">
                <a:solidFill>
                  <a:srgbClr val="5A6A80"/>
                </a:solidFill>
              </a:rPr>
              <a:t>• Chronic-condition communities with repeated testing behavior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Private lab and self-testing audiences already buying panels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Founder-led demos and story-driven product marketing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Memorable clinical-workstation aesthetic as a positioning advantage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3" name="Top Accent Bar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4" name="Title Divider 4"/>
          <p:cNvSpPr/>
          <p:nvPr/>
        </p:nvSpPr>
        <p:spPr>
          <a:xfrm>
            <a:off x="640080" y="1463040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5" name="Brand 5"/>
          <p:cNvSpPr/>
          <p:nvPr/>
        </p:nvSpPr>
        <p:spPr>
          <a:xfrm>
            <a:off x="640080" y="20116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HealthCabinet</a:t>
            </a:r>
            <a:endParaRPr lang="en-US" sz="1200"/>
          </a:p>
        </p:txBody>
      </p:sp>
      <p:sp>
        <p:nvSpPr>
          <p:cNvPr id="6" name="Header Meta 6"/>
          <p:cNvSpPr/>
          <p:nvPr/>
        </p:nvSpPr>
        <p:spPr>
          <a:xfrm>
            <a:off x="9540240" y="2011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pPr algn="r"/>
            <a:r>
              <a:rPr lang="en-US" sz="1200">
                <a:solidFill>
                  <a:srgbClr val="5A6A80"/>
                </a:solidFill>
              </a:rPr>
              <a:t>Roadmap</a:t>
            </a:r>
            <a:endParaRPr lang="en-US" sz="1200"/>
          </a:p>
          <a:p>
            <a:pPr algn="r"/>
            <a:r>
              <a:rPr lang="en-US" sz="2000" b="1">
                <a:solidFill>
                  <a:srgbClr val="8898A8"/>
                </a:solidFill>
              </a:rPr>
              <a:t>09</a:t>
            </a:r>
            <a:endParaRPr lang="en-US" sz="2000"/>
          </a:p>
        </p:txBody>
      </p:sp>
      <p:sp>
        <p:nvSpPr>
          <p:cNvPr id="7" name="Footer Divider 7"/>
          <p:cNvSpPr/>
          <p:nvPr/>
        </p:nvSpPr>
        <p:spPr>
          <a:xfrm>
            <a:off x="640080" y="6565392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8" name="Footer Brand 8"/>
          <p:cNvSpPr/>
          <p:nvPr/>
        </p:nvSpPr>
        <p:spPr>
          <a:xfrm>
            <a:off x="640080" y="660196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100">
                <a:solidFill>
                  <a:srgbClr val="8898A8"/>
                </a:solidFill>
              </a:rPr>
              <a:t>HealthCabinet / Pitch Deck</a:t>
            </a:r>
            <a:endParaRPr lang="en-US" sz="1100"/>
          </a:p>
        </p:txBody>
      </p:sp>
      <p:sp>
        <p:nvSpPr>
          <p:cNvPr id="9" name="Footer Section 9"/>
          <p:cNvSpPr/>
          <p:nvPr/>
        </p:nvSpPr>
        <p:spPr>
          <a:xfrm>
            <a:off x="3383280" y="6601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ctr"/>
            <a:r>
              <a:rPr lang="en-US" sz="1100">
                <a:solidFill>
                  <a:srgbClr val="5A6A80"/>
                </a:solidFill>
              </a:rPr>
              <a:t>Roadmap</a:t>
            </a:r>
            <a:endParaRPr lang="en-US" sz="1100"/>
          </a:p>
        </p:txBody>
      </p:sp>
      <p:sp>
        <p:nvSpPr>
          <p:cNvPr id="10" name="Footer Page 10"/>
          <p:cNvSpPr/>
          <p:nvPr/>
        </p:nvSpPr>
        <p:spPr>
          <a:xfrm>
            <a:off x="10454640" y="660196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r"/>
            <a:r>
              <a:rPr lang="en-US" sz="1100">
                <a:solidFill>
                  <a:srgbClr val="8898A8"/>
                </a:solidFill>
              </a:rPr>
              <a:t>9</a:t>
            </a:r>
            <a:endParaRPr lang="en-US" sz="1100"/>
          </a:p>
        </p:txBody>
      </p:sp>
      <p:sp>
        <p:nvSpPr>
          <p:cNvPr id="11" name="Title Block 11"/>
          <p:cNvSpPr/>
          <p:nvPr/>
        </p:nvSpPr>
        <p:spPr>
          <a:xfrm>
            <a:off x="640080" y="475488"/>
            <a:ext cx="10911840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Prove the loop, then deepen the intelligence</a:t>
            </a:r>
            <a:endParaRPr lang="en-US" sz="1200"/>
          </a:p>
          <a:p>
            <a:r>
              <a:rPr lang="en-US" sz="2800" b="1">
                <a:solidFill>
                  <a:srgbClr val="1A2030"/>
                </a:solidFill>
              </a:rPr>
              <a:t>The roadmap compounds depth instead of scattering into disconnected features.</a:t>
            </a:r>
            <a:endParaRPr lang="en-US" sz="2800"/>
          </a:p>
          <a:p>
            <a:r>
              <a:rPr lang="en-US" sz="1500">
                <a:solidFill>
                  <a:srgbClr val="5A6A80"/>
                </a:solidFill>
              </a:rPr>
              <a:t>The right next moves reinforce the existing upload-to-insight loop rather than diluting it.</a:t>
            </a:r>
            <a:endParaRPr lang="en-US" sz="1500"/>
          </a:p>
        </p:txBody>
      </p:sp>
      <p:sp>
        <p:nvSpPr>
          <p:cNvPr id="12" name="Callout Box 12"/>
          <p:cNvSpPr/>
          <p:nvPr/>
        </p:nvSpPr>
        <p:spPr>
          <a:xfrm>
            <a:off x="640080" y="1773936"/>
            <a:ext cx="3154680" cy="105156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3" name="Callout Bar 13"/>
          <p:cNvSpPr/>
          <p:nvPr/>
        </p:nvSpPr>
        <p:spPr>
          <a:xfrm>
            <a:off x="640080" y="1773936"/>
            <a:ext cx="45720" cy="105156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4" name="Callout Text 14"/>
          <p:cNvSpPr/>
          <p:nvPr/>
        </p:nvSpPr>
        <p:spPr>
          <a:xfrm>
            <a:off x="731520" y="1847088"/>
            <a:ext cx="2971800" cy="9052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3366FF"/>
                </a:solidFill>
              </a:rPr>
              <a:t>Now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Improve upload reliability, time-to-first-insight, and extraction confidence.</a:t>
            </a:r>
            <a:endParaRPr lang="en-US" sz="1400"/>
          </a:p>
        </p:txBody>
      </p:sp>
      <p:sp>
        <p:nvSpPr>
          <p:cNvPr id="15" name="Callout Box 15"/>
          <p:cNvSpPr/>
          <p:nvPr/>
        </p:nvSpPr>
        <p:spPr>
          <a:xfrm>
            <a:off x="3913632" y="1773936"/>
            <a:ext cx="3154680" cy="105156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6" name="Callout Bar 16"/>
          <p:cNvSpPr/>
          <p:nvPr/>
        </p:nvSpPr>
        <p:spPr>
          <a:xfrm>
            <a:off x="3913632" y="1773936"/>
            <a:ext cx="45720" cy="10515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7" name="Callout Text 17"/>
          <p:cNvSpPr/>
          <p:nvPr/>
        </p:nvSpPr>
        <p:spPr>
          <a:xfrm>
            <a:off x="4005072" y="1847088"/>
            <a:ext cx="2971800" cy="9052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2E8B57"/>
                </a:solidFill>
              </a:rPr>
              <a:t>Next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Increase repeat usage, deeper timelines, and stronger cross-document AI memory.</a:t>
            </a:r>
            <a:endParaRPr lang="en-US" sz="1400"/>
          </a:p>
        </p:txBody>
      </p:sp>
      <p:sp>
        <p:nvSpPr>
          <p:cNvPr id="18" name="Callout Box 18"/>
          <p:cNvSpPr/>
          <p:nvPr/>
        </p:nvSpPr>
        <p:spPr>
          <a:xfrm>
            <a:off x="7187184" y="1773936"/>
            <a:ext cx="4364736" cy="105156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9" name="Callout Bar 19"/>
          <p:cNvSpPr/>
          <p:nvPr/>
        </p:nvSpPr>
        <p:spPr>
          <a:xfrm>
            <a:off x="7187184" y="1773936"/>
            <a:ext cx="45720" cy="105156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0" name="Callout Text 20"/>
          <p:cNvSpPr/>
          <p:nvPr/>
        </p:nvSpPr>
        <p:spPr>
          <a:xfrm>
            <a:off x="7278624" y="1847088"/>
            <a:ext cx="4181856" cy="9052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DAA520"/>
                </a:solidFill>
              </a:rPr>
              <a:t>Later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Doctor-share workflows, richer exports, premium layers, and broader EU expansion.</a:t>
            </a:r>
            <a:endParaRPr lang="en-US" sz="1400"/>
          </a:p>
        </p:txBody>
      </p:sp>
      <p:sp>
        <p:nvSpPr>
          <p:cNvPr id="21" name="Panel 21"/>
          <p:cNvSpPr/>
          <p:nvPr/>
        </p:nvSpPr>
        <p:spPr>
          <a:xfrm>
            <a:off x="640080" y="3008376"/>
            <a:ext cx="4846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2" name="Panel Accent 22"/>
          <p:cNvSpPr/>
          <p:nvPr/>
        </p:nvSpPr>
        <p:spPr>
          <a:xfrm>
            <a:off x="640080" y="3008376"/>
            <a:ext cx="484632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3" name="Panel Body 23"/>
          <p:cNvSpPr/>
          <p:nvPr/>
        </p:nvSpPr>
        <p:spPr>
          <a:xfrm>
            <a:off x="731520" y="3081528"/>
            <a:ext cx="4663440" cy="209397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What to measure first</a:t>
            </a:r>
            <a:endParaRPr lang="en-US" sz="1500"/>
          </a:p>
          <a:p>
            <a:r>
              <a:rPr lang="en-US" sz="1300">
                <a:solidFill>
                  <a:srgbClr val="5A6A80"/>
                </a:solidFill>
              </a:rPr>
              <a:t>• Upload success rate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Time to first usable insight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Repeat uploads across separate dates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Users with multi-document histories</a:t>
            </a:r>
            <a:endParaRPr lang="en-US" sz="1300"/>
          </a:p>
        </p:txBody>
      </p:sp>
      <p:sp>
        <p:nvSpPr>
          <p:cNvPr id="24" name="Panel 24"/>
          <p:cNvSpPr/>
          <p:nvPr/>
        </p:nvSpPr>
        <p:spPr>
          <a:xfrm>
            <a:off x="5623560" y="3008376"/>
            <a:ext cx="5928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5" name="Panel Accent 25"/>
          <p:cNvSpPr/>
          <p:nvPr/>
        </p:nvSpPr>
        <p:spPr>
          <a:xfrm>
            <a:off x="5623560" y="3008376"/>
            <a:ext cx="592836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6" name="Panel Body 26"/>
          <p:cNvSpPr/>
          <p:nvPr/>
        </p:nvSpPr>
        <p:spPr>
          <a:xfrm>
            <a:off x="5715000" y="3081528"/>
            <a:ext cx="5745480" cy="209397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What not to optimize too early</a:t>
            </a:r>
            <a:endParaRPr lang="en-US" sz="1500"/>
          </a:p>
          <a:p>
            <a:r>
              <a:rPr lang="en-US" sz="1300">
                <a:solidFill>
                  <a:srgbClr val="5A6A80"/>
                </a:solidFill>
              </a:rPr>
              <a:t>• Complex billing surface before trust is proven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Feature sprawl that weakens the core loop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Marketing polish detached from product usefulness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Medical overclaiming for short-term attention</a:t>
            </a:r>
            <a:endParaRPr lang="en-US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3" name="Top Accent Bar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4" name="Title Divider 4"/>
          <p:cNvSpPr/>
          <p:nvPr/>
        </p:nvSpPr>
        <p:spPr>
          <a:xfrm>
            <a:off x="640080" y="1463040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5" name="Brand 5"/>
          <p:cNvSpPr/>
          <p:nvPr/>
        </p:nvSpPr>
        <p:spPr>
          <a:xfrm>
            <a:off x="640080" y="20116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HealthCabinet</a:t>
            </a:r>
            <a:endParaRPr lang="en-US" sz="1200"/>
          </a:p>
        </p:txBody>
      </p:sp>
      <p:sp>
        <p:nvSpPr>
          <p:cNvPr id="6" name="Header Meta 6"/>
          <p:cNvSpPr/>
          <p:nvPr/>
        </p:nvSpPr>
        <p:spPr>
          <a:xfrm>
            <a:off x="9540240" y="2011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pPr algn="r"/>
            <a:r>
              <a:rPr lang="en-US" sz="1200">
                <a:solidFill>
                  <a:srgbClr val="5A6A80"/>
                </a:solidFill>
              </a:rPr>
              <a:t>Closing ask</a:t>
            </a:r>
            <a:endParaRPr lang="en-US" sz="1200"/>
          </a:p>
          <a:p>
            <a:pPr algn="r"/>
            <a:r>
              <a:rPr lang="en-US" sz="2000" b="1">
                <a:solidFill>
                  <a:srgbClr val="8898A8"/>
                </a:solidFill>
              </a:rPr>
              <a:t>10</a:t>
            </a:r>
            <a:endParaRPr lang="en-US" sz="2000"/>
          </a:p>
        </p:txBody>
      </p:sp>
      <p:sp>
        <p:nvSpPr>
          <p:cNvPr id="7" name="Footer Divider 7"/>
          <p:cNvSpPr/>
          <p:nvPr/>
        </p:nvSpPr>
        <p:spPr>
          <a:xfrm>
            <a:off x="640080" y="6565392"/>
            <a:ext cx="10911840" cy="18288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8" name="Footer Brand 8"/>
          <p:cNvSpPr/>
          <p:nvPr/>
        </p:nvSpPr>
        <p:spPr>
          <a:xfrm>
            <a:off x="640080" y="660196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r>
              <a:rPr lang="en-US" sz="1100">
                <a:solidFill>
                  <a:srgbClr val="8898A8"/>
                </a:solidFill>
              </a:rPr>
              <a:t>HealthCabinet / Pitch Deck</a:t>
            </a:r>
            <a:endParaRPr lang="en-US" sz="1100"/>
          </a:p>
        </p:txBody>
      </p:sp>
      <p:sp>
        <p:nvSpPr>
          <p:cNvPr id="9" name="Footer Section 9"/>
          <p:cNvSpPr/>
          <p:nvPr/>
        </p:nvSpPr>
        <p:spPr>
          <a:xfrm>
            <a:off x="3383280" y="6601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ctr"/>
            <a:r>
              <a:rPr lang="en-US" sz="1100">
                <a:solidFill>
                  <a:srgbClr val="5A6A80"/>
                </a:solidFill>
              </a:rPr>
              <a:t>Ask</a:t>
            </a:r>
            <a:endParaRPr lang="en-US" sz="1100"/>
          </a:p>
        </p:txBody>
      </p:sp>
      <p:sp>
        <p:nvSpPr>
          <p:cNvPr id="10" name="Footer Page 10"/>
          <p:cNvSpPr/>
          <p:nvPr/>
        </p:nvSpPr>
        <p:spPr>
          <a:xfrm>
            <a:off x="10454640" y="660196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22860" rIns="22860" tIns="22860" bIns="22860"/>
          <a:lstStyle/>
          <a:p>
            <a:pPr algn="r"/>
            <a:r>
              <a:rPr lang="en-US" sz="1100">
                <a:solidFill>
                  <a:srgbClr val="8898A8"/>
                </a:solidFill>
              </a:rPr>
              <a:t>10</a:t>
            </a:r>
            <a:endParaRPr lang="en-US" sz="1100"/>
          </a:p>
        </p:txBody>
      </p:sp>
      <p:sp>
        <p:nvSpPr>
          <p:cNvPr id="11" name="Title Block 11"/>
          <p:cNvSpPr/>
          <p:nvPr/>
        </p:nvSpPr>
        <p:spPr>
          <a:xfrm>
            <a:off x="640080" y="475488"/>
            <a:ext cx="10911840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200" b="1">
                <a:solidFill>
                  <a:srgbClr val="3366FF"/>
                </a:solidFill>
              </a:rPr>
              <a:t>HealthCabinet is ready for sharper feedback loops</a:t>
            </a:r>
            <a:endParaRPr lang="en-US" sz="1200"/>
          </a:p>
          <a:p>
            <a:r>
              <a:rPr lang="en-US" sz="2800" b="1">
                <a:solidFill>
                  <a:srgbClr val="1A2030"/>
                </a:solidFill>
              </a:rPr>
              <a:t>The next step is evidence: pilot users, stronger critique, and the right conversations.</a:t>
            </a:r>
            <a:endParaRPr lang="en-US" sz="2800"/>
          </a:p>
          <a:p>
            <a:r>
              <a:rPr lang="en-US" sz="1500">
                <a:solidFill>
                  <a:srgbClr val="5A6A80"/>
                </a:solidFill>
              </a:rPr>
              <a:t>The product story is clearer now. What it needs next is better proof with real users and real documents.</a:t>
            </a:r>
            <a:endParaRPr lang="en-US" sz="1500"/>
          </a:p>
        </p:txBody>
      </p:sp>
      <p:sp>
        <p:nvSpPr>
          <p:cNvPr id="12" name="Callout Box 12"/>
          <p:cNvSpPr/>
          <p:nvPr/>
        </p:nvSpPr>
        <p:spPr>
          <a:xfrm>
            <a:off x="640080" y="1773936"/>
            <a:ext cx="3154680" cy="105156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3" name="Callout Bar 13"/>
          <p:cNvSpPr/>
          <p:nvPr/>
        </p:nvSpPr>
        <p:spPr>
          <a:xfrm>
            <a:off x="640080" y="1773936"/>
            <a:ext cx="45720" cy="105156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4" name="Callout Text 14"/>
          <p:cNvSpPr/>
          <p:nvPr/>
        </p:nvSpPr>
        <p:spPr>
          <a:xfrm>
            <a:off x="731520" y="1847088"/>
            <a:ext cx="2971800" cy="9052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3366FF"/>
                </a:solidFill>
              </a:rPr>
              <a:t>Need 1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Pilot users with recurring lab workflows</a:t>
            </a:r>
            <a:endParaRPr lang="en-US" sz="1400"/>
          </a:p>
        </p:txBody>
      </p:sp>
      <p:sp>
        <p:nvSpPr>
          <p:cNvPr id="15" name="Callout Box 15"/>
          <p:cNvSpPr/>
          <p:nvPr/>
        </p:nvSpPr>
        <p:spPr>
          <a:xfrm>
            <a:off x="3913632" y="1773936"/>
            <a:ext cx="3154680" cy="105156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6" name="Callout Bar 16"/>
          <p:cNvSpPr/>
          <p:nvPr/>
        </p:nvSpPr>
        <p:spPr>
          <a:xfrm>
            <a:off x="3913632" y="1773936"/>
            <a:ext cx="45720" cy="10515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7" name="Callout Text 17"/>
          <p:cNvSpPr/>
          <p:nvPr/>
        </p:nvSpPr>
        <p:spPr>
          <a:xfrm>
            <a:off x="4005072" y="1847088"/>
            <a:ext cx="2971800" cy="9052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2E8B57"/>
                </a:solidFill>
              </a:rPr>
              <a:t>Need 2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Design and product critique on the current UX direction</a:t>
            </a:r>
            <a:endParaRPr lang="en-US" sz="1400"/>
          </a:p>
        </p:txBody>
      </p:sp>
      <p:sp>
        <p:nvSpPr>
          <p:cNvPr id="18" name="Callout Box 18"/>
          <p:cNvSpPr/>
          <p:nvPr/>
        </p:nvSpPr>
        <p:spPr>
          <a:xfrm>
            <a:off x="7187184" y="1773936"/>
            <a:ext cx="4364736" cy="105156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19" name="Callout Bar 19"/>
          <p:cNvSpPr/>
          <p:nvPr/>
        </p:nvSpPr>
        <p:spPr>
          <a:xfrm>
            <a:off x="7187184" y="1773936"/>
            <a:ext cx="45720" cy="105156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0" name="Callout Text 20"/>
          <p:cNvSpPr/>
          <p:nvPr/>
        </p:nvSpPr>
        <p:spPr>
          <a:xfrm>
            <a:off x="7278624" y="1847088"/>
            <a:ext cx="4181856" cy="90525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DAA520"/>
                </a:solidFill>
              </a:rPr>
              <a:t>Need 3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Strategic conversations around patient-facing health intelligence</a:t>
            </a:r>
            <a:endParaRPr lang="en-US" sz="1400"/>
          </a:p>
        </p:txBody>
      </p:sp>
      <p:sp>
        <p:nvSpPr>
          <p:cNvPr id="21" name="Panel 21"/>
          <p:cNvSpPr/>
          <p:nvPr/>
        </p:nvSpPr>
        <p:spPr>
          <a:xfrm>
            <a:off x="640080" y="3008376"/>
            <a:ext cx="4754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2" name="Panel Accent 22"/>
          <p:cNvSpPr/>
          <p:nvPr/>
        </p:nvSpPr>
        <p:spPr>
          <a:xfrm>
            <a:off x="640080" y="3008376"/>
            <a:ext cx="4754880" cy="36576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3" name="Panel Body 23"/>
          <p:cNvSpPr/>
          <p:nvPr/>
        </p:nvSpPr>
        <p:spPr>
          <a:xfrm>
            <a:off x="731520" y="3081528"/>
            <a:ext cx="4572000" cy="21396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1A2030"/>
                </a:solidFill>
              </a:rPr>
              <a:t>Why now</a:t>
            </a:r>
            <a:endParaRPr lang="en-US" sz="1500"/>
          </a:p>
          <a:p>
            <a:r>
              <a:rPr lang="en-US" sz="1300">
                <a:solidFill>
                  <a:srgbClr val="5A6A80"/>
                </a:solidFill>
              </a:rPr>
              <a:t>• The product story is clear and differentiated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The design language is memorable and domain-aligned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The repo already contains real product surfaces</a:t>
            </a:r>
            <a:endParaRPr lang="en-US" sz="1300"/>
          </a:p>
          <a:p>
            <a:r>
              <a:rPr lang="en-US" sz="1300">
                <a:solidFill>
                  <a:srgbClr val="5A6A80"/>
                </a:solidFill>
              </a:rPr>
              <a:t>• The next proof needed is repeat usage with real documents</a:t>
            </a:r>
            <a:endParaRPr lang="en-US" sz="1300"/>
          </a:p>
        </p:txBody>
      </p:sp>
      <p:sp>
        <p:nvSpPr>
          <p:cNvPr id="24" name="Callout Box 24"/>
          <p:cNvSpPr/>
          <p:nvPr/>
        </p:nvSpPr>
        <p:spPr>
          <a:xfrm>
            <a:off x="5532120" y="3008376"/>
            <a:ext cx="6019800" cy="2286000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4"/>
            </a:solidFill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5" name="Callout Bar 25"/>
          <p:cNvSpPr/>
          <p:nvPr/>
        </p:nvSpPr>
        <p:spPr>
          <a:xfrm>
            <a:off x="5532120" y="3008376"/>
            <a:ext cx="45720" cy="2286000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txBody>
          <a:bodyPr wrap="square" anchor="t" lIns="22860" rIns="22860" tIns="22860" bIns="22860"/>
          <a:lstStyle/>
          <a:p/>
        </p:txBody>
      </p:sp>
      <p:sp>
        <p:nvSpPr>
          <p:cNvPr id="26" name="Callout Text 26"/>
          <p:cNvSpPr/>
          <p:nvPr/>
        </p:nvSpPr>
        <p:spPr>
          <a:xfrm>
            <a:off x="5623560" y="3081528"/>
            <a:ext cx="5836920" cy="2139696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en-US" sz="1500" b="1">
                <a:solidFill>
                  <a:srgbClr val="3366FF"/>
                </a:solidFill>
              </a:rPr>
              <a:t>Closing line</a:t>
            </a:r>
            <a:endParaRPr lang="en-US" sz="1500"/>
          </a:p>
          <a:p>
            <a:r>
              <a:rPr lang="en-US" sz="1400">
                <a:solidFill>
                  <a:srgbClr val="5A6A80"/>
                </a:solidFill>
              </a:rPr>
              <a:t>HealthCabinet is not trying to be another wellness surface. It is trying to become the patient-owned memory and interpretation layer for recurring health data.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Cabinet Theme">
  <a:themeElements>
    <a:clrScheme name="HealthCabinet">
      <a:dk1>
        <a:srgbClr val="1A2030"/>
      </a:dk1>
      <a:lt1>
        <a:srgbClr val="FFFFFF"/>
      </a:lt1>
      <a:dk2>
        <a:srgbClr val="5A6A80"/>
      </a:dk2>
      <a:lt2>
        <a:srgbClr val="EEF2F8"/>
      </a:lt2>
      <a:accent1>
        <a:srgbClr val="3366FF"/>
      </a:accent1>
      <a:accent2>
        <a:srgbClr val="2E8B57"/>
      </a:accent2>
      <a:accent3>
        <a:srgbClr val="DAA520"/>
      </a:accent3>
      <a:accent4>
        <a:srgbClr val="E07020"/>
      </a:accent4>
      <a:accent5>
        <a:srgbClr val="CC3333"/>
      </a:accent5>
      <a:accent6>
        <a:srgbClr val="6690FF"/>
      </a:accent6>
      <a:hlink>
        <a:srgbClr val="3366FF"/>
      </a:hlink>
      <a:folHlink>
        <a:srgbClr val="6690FF"/>
      </a:folHlink>
    </a:clrScheme>
    <a:fontScheme name="HealthCabinet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HealthCabinet">
      <a:fillStyleLst>
        <a:solidFill>
          <a:schemeClr val="phClr"/>
        </a:solidFill>
        <a:solidFill>
          <a:schemeClr val="lt1"/>
        </a:solidFill>
        <a:solidFill>
          <a:schemeClr val="lt2"/>
        </a:solidFill>
      </a:fillStyleLst>
      <a:lnStyleLst>
        <a:ln w="9525" cap="flat" cmpd="sng" algn="ctr">
          <a:solidFill>
            <a:schemeClr val="dk2"/>
          </a:solidFill>
          <a:prstDash val="solid"/>
        </a:ln>
        <a:ln w="25400" cap="flat" cmpd="sng" algn="ctr">
          <a:solidFill>
            <a:schemeClr val="dk2"/>
          </a:solidFill>
          <a:prstDash val="solid"/>
        </a:ln>
        <a:ln w="38100" cap="flat" cmpd="sng" algn="ctr">
          <a:solidFill>
            <a:schemeClr val="dk2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bg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10</vt:i4>
      </vt:variant>
    </vt:vector>
  </HeadingPairs>
  <TitlesOfParts>
    <vt:vector size="10" baseType="lpstr">
      <vt:lpstr>Cover</vt:lpstr>
      <vt:lpstr>Problem</vt:lpstr>
      <vt:lpstr>Users</vt:lpstr>
      <vt:lpstr>Product</vt:lpstr>
      <vt:lpstr>Loop</vt:lpstr>
      <vt:lpstr>Trust</vt:lpstr>
      <vt:lpstr>Build</vt:lpstr>
      <vt:lpstr>Model</vt:lpstr>
      <vt:lpstr>Roadmap</vt:lpstr>
      <vt:lpstr>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HealthCabinet Pitch Deck</dc:title>
  <dc:creator>Codex</dc:creator>
  <cp:lastModifiedBy>Codex</cp:lastModifiedBy>
  <dcterms:created xsi:type="dcterms:W3CDTF">2026-04-24T10:38:28Z</dcterms:created>
  <dcterms:modified xsi:type="dcterms:W3CDTF">2026-04-24T10:38:28Z</dcterms:modified>
</cp:coreProperties>
</file>